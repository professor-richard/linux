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8"/>
  </p:notesMasterIdLst>
  <p:sldIdLst>
    <p:sldId id="257" r:id="rId2"/>
    <p:sldId id="282" r:id="rId3"/>
    <p:sldId id="283" r:id="rId4"/>
    <p:sldId id="311" r:id="rId5"/>
    <p:sldId id="284" r:id="rId6"/>
    <p:sldId id="285" r:id="rId7"/>
    <p:sldId id="286" r:id="rId8"/>
    <p:sldId id="287" r:id="rId9"/>
    <p:sldId id="288" r:id="rId10"/>
    <p:sldId id="289" r:id="rId11"/>
    <p:sldId id="290" r:id="rId12"/>
    <p:sldId id="291" r:id="rId13"/>
    <p:sldId id="292" r:id="rId14"/>
    <p:sldId id="294" r:id="rId15"/>
    <p:sldId id="293" r:id="rId16"/>
    <p:sldId id="295" r:id="rId17"/>
    <p:sldId id="296" r:id="rId18"/>
    <p:sldId id="297" r:id="rId19"/>
    <p:sldId id="298" r:id="rId20"/>
    <p:sldId id="299" r:id="rId21"/>
    <p:sldId id="300" r:id="rId22"/>
    <p:sldId id="302" r:id="rId23"/>
    <p:sldId id="303" r:id="rId24"/>
    <p:sldId id="310" r:id="rId25"/>
    <p:sldId id="301" r:id="rId26"/>
    <p:sldId id="280" r:id="rId2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50"/>
    <a:srgbClr val="F2BF27"/>
    <a:srgbClr val="033E8C"/>
    <a:srgbClr val="034C8C"/>
    <a:srgbClr val="575150"/>
    <a:srgbClr val="F2A516"/>
    <a:srgbClr val="0367A6"/>
    <a:srgbClr val="C0E0E7"/>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26" autoAdjust="0"/>
    <p:restoredTop sz="94660"/>
  </p:normalViewPr>
  <p:slideViewPr>
    <p:cSldViewPr snapToGrid="0">
      <p:cViewPr varScale="1">
        <p:scale>
          <a:sx n="82" d="100"/>
          <a:sy n="82" d="100"/>
        </p:scale>
        <p:origin x="686"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30CB71-CBFF-472E-8CB3-A3D6721513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pt-BR"/>
        </a:p>
      </dgm:t>
    </dgm:pt>
    <dgm:pt modelId="{C5DD05F5-C33F-4217-ABA8-6682F21A79AA}">
      <dgm:prSet/>
      <dgm:spPr/>
      <dgm:t>
        <a:bodyPr/>
        <a:lstStyle/>
        <a:p>
          <a:r>
            <a:rPr lang="pt-BR" dirty="0"/>
            <a:t>Todos os componentes do núcleo operam em modo núcleo e se inter-relacionam conforme suas necessidades, sem restrições de acesso entre si, pois o código no nível núcleo tem acesso pleno a todos os recursos e áreas de memória. </a:t>
          </a:r>
        </a:p>
      </dgm:t>
    </dgm:pt>
    <dgm:pt modelId="{B532FF96-76BD-4D09-8592-80AA5EA8FEBC}" type="parTrans" cxnId="{9DE76296-1428-47DC-B9DF-8163D43798B9}">
      <dgm:prSet/>
      <dgm:spPr/>
      <dgm:t>
        <a:bodyPr/>
        <a:lstStyle/>
        <a:p>
          <a:endParaRPr lang="pt-BR"/>
        </a:p>
      </dgm:t>
    </dgm:pt>
    <dgm:pt modelId="{564E5C40-019C-44D6-A94D-1C2173EB8608}" type="sibTrans" cxnId="{9DE76296-1428-47DC-B9DF-8163D43798B9}">
      <dgm:prSet/>
      <dgm:spPr/>
      <dgm:t>
        <a:bodyPr/>
        <a:lstStyle/>
        <a:p>
          <a:endParaRPr lang="pt-BR"/>
        </a:p>
      </dgm:t>
    </dgm:pt>
    <dgm:pt modelId="{62B5AF63-4998-4F10-9F06-7B25ADFEE0DB}" type="pres">
      <dgm:prSet presAssocID="{D330CB71-CBFF-472E-8CB3-A3D6721513C8}" presName="linear" presStyleCnt="0">
        <dgm:presLayoutVars>
          <dgm:animLvl val="lvl"/>
          <dgm:resizeHandles val="exact"/>
        </dgm:presLayoutVars>
      </dgm:prSet>
      <dgm:spPr/>
    </dgm:pt>
    <dgm:pt modelId="{3C7E4815-EECB-4B68-8AE5-0A5C31E689B0}" type="pres">
      <dgm:prSet presAssocID="{C5DD05F5-C33F-4217-ABA8-6682F21A79AA}" presName="parentText" presStyleLbl="node1" presStyleIdx="0" presStyleCnt="1">
        <dgm:presLayoutVars>
          <dgm:chMax val="0"/>
          <dgm:bulletEnabled val="1"/>
        </dgm:presLayoutVars>
      </dgm:prSet>
      <dgm:spPr/>
    </dgm:pt>
  </dgm:ptLst>
  <dgm:cxnLst>
    <dgm:cxn modelId="{EE72847E-9AD3-4FFD-822B-7836A4BCDB63}" type="presOf" srcId="{C5DD05F5-C33F-4217-ABA8-6682F21A79AA}" destId="{3C7E4815-EECB-4B68-8AE5-0A5C31E689B0}" srcOrd="0" destOrd="0" presId="urn:microsoft.com/office/officeart/2005/8/layout/vList2"/>
    <dgm:cxn modelId="{9DE76296-1428-47DC-B9DF-8163D43798B9}" srcId="{D330CB71-CBFF-472E-8CB3-A3D6721513C8}" destId="{C5DD05F5-C33F-4217-ABA8-6682F21A79AA}" srcOrd="0" destOrd="0" parTransId="{B532FF96-76BD-4D09-8592-80AA5EA8FEBC}" sibTransId="{564E5C40-019C-44D6-A94D-1C2173EB8608}"/>
    <dgm:cxn modelId="{9D15B7FB-5A2F-4F95-9073-1C8BE7C48E01}" type="presOf" srcId="{D330CB71-CBFF-472E-8CB3-A3D6721513C8}" destId="{62B5AF63-4998-4F10-9F06-7B25ADFEE0DB}" srcOrd="0" destOrd="0" presId="urn:microsoft.com/office/officeart/2005/8/layout/vList2"/>
    <dgm:cxn modelId="{BB0D7F55-727F-4662-BC4F-9EE16B40D5C9}" type="presParOf" srcId="{62B5AF63-4998-4F10-9F06-7B25ADFEE0DB}" destId="{3C7E4815-EECB-4B68-8AE5-0A5C31E689B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B2255C-16A4-445F-B5BA-2FB419CEC02A}"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pt-BR"/>
        </a:p>
      </dgm:t>
    </dgm:pt>
    <dgm:pt modelId="{8AD1B3CA-B0E6-43EF-8C4A-B1B134DD356A}">
      <dgm:prSet/>
      <dgm:spPr>
        <a:solidFill>
          <a:schemeClr val="bg1"/>
        </a:solidFill>
        <a:ln>
          <a:solidFill>
            <a:srgbClr val="000050"/>
          </a:solidFill>
        </a:ln>
      </dgm:spPr>
      <dgm:t>
        <a:bodyPr/>
        <a:lstStyle/>
        <a:p>
          <a:r>
            <a:rPr lang="pt-BR" b="1" dirty="0">
              <a:solidFill>
                <a:srgbClr val="000050"/>
              </a:solidFill>
            </a:rPr>
            <a:t>Inconvenientes que limitam sua aceitação:</a:t>
          </a:r>
        </a:p>
      </dgm:t>
    </dgm:pt>
    <dgm:pt modelId="{0670316F-E536-49FD-9B04-EAAD704AEFAB}" type="parTrans" cxnId="{2E89E233-3230-4B8A-90AC-87A97FA8A577}">
      <dgm:prSet/>
      <dgm:spPr/>
      <dgm:t>
        <a:bodyPr/>
        <a:lstStyle/>
        <a:p>
          <a:endParaRPr lang="pt-BR"/>
        </a:p>
      </dgm:t>
    </dgm:pt>
    <dgm:pt modelId="{27C8C05A-6E4E-4706-BBAD-04986FAFAB30}" type="sibTrans" cxnId="{2E89E233-3230-4B8A-90AC-87A97FA8A577}">
      <dgm:prSet/>
      <dgm:spPr/>
      <dgm:t>
        <a:bodyPr/>
        <a:lstStyle/>
        <a:p>
          <a:endParaRPr lang="pt-BR"/>
        </a:p>
      </dgm:t>
    </dgm:pt>
    <dgm:pt modelId="{7AE7CED3-8849-4D64-BF55-E7C4DDBEA4E1}">
      <dgm:prSet/>
      <dgm:spPr/>
      <dgm:t>
        <a:bodyPr/>
        <a:lstStyle/>
        <a:p>
          <a:r>
            <a:rPr lang="pt-BR" b="1" u="sng" dirty="0"/>
            <a:t>O empilhamento de várias camadas </a:t>
          </a:r>
          <a:r>
            <a:rPr lang="pt-BR" dirty="0"/>
            <a:t>de software faz com que cada pedido de uma aplicação demore mais tempo para chegar até o dispositivo periférico ou recurso a ser acessado, </a:t>
          </a:r>
          <a:r>
            <a:rPr lang="pt-BR" b="1" dirty="0">
              <a:solidFill>
                <a:schemeClr val="bg1"/>
              </a:solidFill>
            </a:rPr>
            <a:t>prejudicando o</a:t>
          </a:r>
          <a:r>
            <a:rPr lang="pt-BR" dirty="0">
              <a:solidFill>
                <a:schemeClr val="bg1"/>
              </a:solidFill>
            </a:rPr>
            <a:t> </a:t>
          </a:r>
          <a:r>
            <a:rPr lang="pt-BR" b="1" dirty="0">
              <a:solidFill>
                <a:schemeClr val="bg1"/>
              </a:solidFill>
            </a:rPr>
            <a:t>desempenho do sistema. </a:t>
          </a:r>
        </a:p>
      </dgm:t>
    </dgm:pt>
    <dgm:pt modelId="{FE8569D0-55CE-4200-8FE8-80CE854733B6}" type="parTrans" cxnId="{C6F6FA6A-9F7B-42A7-AB9C-59E927B0E427}">
      <dgm:prSet/>
      <dgm:spPr/>
      <dgm:t>
        <a:bodyPr/>
        <a:lstStyle/>
        <a:p>
          <a:endParaRPr lang="pt-BR"/>
        </a:p>
      </dgm:t>
    </dgm:pt>
    <dgm:pt modelId="{D7AB0354-50AD-455B-BFC2-E763027CB473}" type="sibTrans" cxnId="{C6F6FA6A-9F7B-42A7-AB9C-59E927B0E427}">
      <dgm:prSet/>
      <dgm:spPr/>
      <dgm:t>
        <a:bodyPr/>
        <a:lstStyle/>
        <a:p>
          <a:endParaRPr lang="pt-BR"/>
        </a:p>
      </dgm:t>
    </dgm:pt>
    <dgm:pt modelId="{5086D860-6423-4499-9CCE-4E9CDD52D4AD}">
      <dgm:prSet/>
      <dgm:spPr/>
      <dgm:t>
        <a:bodyPr/>
        <a:lstStyle/>
        <a:p>
          <a:r>
            <a:rPr lang="pt-BR" dirty="0"/>
            <a:t>Não é óbvio como dividir as funcionalidades de um núcleo de sistema operacional em camadas horizontais de abstração crescente, pois essas funcionalidades são interdependentes, embora tratem muitas vezes de recursos distintos. </a:t>
          </a:r>
        </a:p>
      </dgm:t>
    </dgm:pt>
    <dgm:pt modelId="{C783CB50-E6CD-4D03-8092-41C08EA6490C}" type="parTrans" cxnId="{0A8B1214-A560-4C7B-ADB9-3B4014A3F4B9}">
      <dgm:prSet/>
      <dgm:spPr/>
      <dgm:t>
        <a:bodyPr/>
        <a:lstStyle/>
        <a:p>
          <a:endParaRPr lang="pt-BR"/>
        </a:p>
      </dgm:t>
    </dgm:pt>
    <dgm:pt modelId="{4E7CF6D7-A584-4533-BDAF-316983E75D92}" type="sibTrans" cxnId="{0A8B1214-A560-4C7B-ADB9-3B4014A3F4B9}">
      <dgm:prSet/>
      <dgm:spPr/>
      <dgm:t>
        <a:bodyPr/>
        <a:lstStyle/>
        <a:p>
          <a:endParaRPr lang="pt-BR"/>
        </a:p>
      </dgm:t>
    </dgm:pt>
    <dgm:pt modelId="{DFB2953F-751C-49BA-87FC-58B4EC3F777C}" type="pres">
      <dgm:prSet presAssocID="{00B2255C-16A4-445F-B5BA-2FB419CEC02A}" presName="hierChild1" presStyleCnt="0">
        <dgm:presLayoutVars>
          <dgm:orgChart val="1"/>
          <dgm:chPref val="1"/>
          <dgm:dir/>
          <dgm:animOne val="branch"/>
          <dgm:animLvl val="lvl"/>
          <dgm:resizeHandles/>
        </dgm:presLayoutVars>
      </dgm:prSet>
      <dgm:spPr/>
    </dgm:pt>
    <dgm:pt modelId="{D1B6A409-C1B0-495D-AE3C-AB61E3ABBB80}" type="pres">
      <dgm:prSet presAssocID="{8AD1B3CA-B0E6-43EF-8C4A-B1B134DD356A}" presName="hierRoot1" presStyleCnt="0">
        <dgm:presLayoutVars>
          <dgm:hierBranch val="init"/>
        </dgm:presLayoutVars>
      </dgm:prSet>
      <dgm:spPr/>
    </dgm:pt>
    <dgm:pt modelId="{7579F8F3-9D65-40E9-8F11-1FD235581C6A}" type="pres">
      <dgm:prSet presAssocID="{8AD1B3CA-B0E6-43EF-8C4A-B1B134DD356A}" presName="rootComposite1" presStyleCnt="0"/>
      <dgm:spPr/>
    </dgm:pt>
    <dgm:pt modelId="{2873FA39-DB84-46C2-A9F1-66BDA722442E}" type="pres">
      <dgm:prSet presAssocID="{8AD1B3CA-B0E6-43EF-8C4A-B1B134DD356A}" presName="rootText1" presStyleLbl="node0" presStyleIdx="0" presStyleCnt="1" custScaleX="138800" custScaleY="23932">
        <dgm:presLayoutVars>
          <dgm:chPref val="3"/>
        </dgm:presLayoutVars>
      </dgm:prSet>
      <dgm:spPr/>
    </dgm:pt>
    <dgm:pt modelId="{A504EC4E-78A5-4BC2-9B50-DD48E8B0203E}" type="pres">
      <dgm:prSet presAssocID="{8AD1B3CA-B0E6-43EF-8C4A-B1B134DD356A}" presName="rootConnector1" presStyleLbl="node1" presStyleIdx="0" presStyleCnt="0"/>
      <dgm:spPr/>
    </dgm:pt>
    <dgm:pt modelId="{1F9C85F1-3CFA-46AB-A4EA-F9CDA799AF8F}" type="pres">
      <dgm:prSet presAssocID="{8AD1B3CA-B0E6-43EF-8C4A-B1B134DD356A}" presName="hierChild2" presStyleCnt="0"/>
      <dgm:spPr/>
    </dgm:pt>
    <dgm:pt modelId="{24905384-0636-47D4-93B2-172572EAD02C}" type="pres">
      <dgm:prSet presAssocID="{FE8569D0-55CE-4200-8FE8-80CE854733B6}" presName="Name37" presStyleLbl="parChTrans1D2" presStyleIdx="0" presStyleCnt="2"/>
      <dgm:spPr/>
    </dgm:pt>
    <dgm:pt modelId="{5743D618-E536-4A1F-9E1F-B65B099DF2F6}" type="pres">
      <dgm:prSet presAssocID="{7AE7CED3-8849-4D64-BF55-E7C4DDBEA4E1}" presName="hierRoot2" presStyleCnt="0">
        <dgm:presLayoutVars>
          <dgm:hierBranch val="init"/>
        </dgm:presLayoutVars>
      </dgm:prSet>
      <dgm:spPr/>
    </dgm:pt>
    <dgm:pt modelId="{BCE606F0-72DC-46BE-93DA-CA69F1F28FCA}" type="pres">
      <dgm:prSet presAssocID="{7AE7CED3-8849-4D64-BF55-E7C4DDBEA4E1}" presName="rootComposite" presStyleCnt="0"/>
      <dgm:spPr/>
    </dgm:pt>
    <dgm:pt modelId="{21176B86-983F-4839-B4AD-595FCA3EEE35}" type="pres">
      <dgm:prSet presAssocID="{7AE7CED3-8849-4D64-BF55-E7C4DDBEA4E1}" presName="rootText" presStyleLbl="node2" presStyleIdx="0" presStyleCnt="2">
        <dgm:presLayoutVars>
          <dgm:chPref val="3"/>
        </dgm:presLayoutVars>
      </dgm:prSet>
      <dgm:spPr/>
    </dgm:pt>
    <dgm:pt modelId="{49944810-74B0-4512-A9B6-E6D09F36FCC7}" type="pres">
      <dgm:prSet presAssocID="{7AE7CED3-8849-4D64-BF55-E7C4DDBEA4E1}" presName="rootConnector" presStyleLbl="node2" presStyleIdx="0" presStyleCnt="2"/>
      <dgm:spPr/>
    </dgm:pt>
    <dgm:pt modelId="{52AB5B0D-99AD-4F2E-B4A4-8F5CB1A6BA7C}" type="pres">
      <dgm:prSet presAssocID="{7AE7CED3-8849-4D64-BF55-E7C4DDBEA4E1}" presName="hierChild4" presStyleCnt="0"/>
      <dgm:spPr/>
    </dgm:pt>
    <dgm:pt modelId="{46162C11-AB2C-4CAA-BC17-4B7952CD18D3}" type="pres">
      <dgm:prSet presAssocID="{7AE7CED3-8849-4D64-BF55-E7C4DDBEA4E1}" presName="hierChild5" presStyleCnt="0"/>
      <dgm:spPr/>
    </dgm:pt>
    <dgm:pt modelId="{A82BDD0B-7D39-44EA-B3C1-384CB98E68E0}" type="pres">
      <dgm:prSet presAssocID="{C783CB50-E6CD-4D03-8092-41C08EA6490C}" presName="Name37" presStyleLbl="parChTrans1D2" presStyleIdx="1" presStyleCnt="2"/>
      <dgm:spPr/>
    </dgm:pt>
    <dgm:pt modelId="{B0936F22-6AEC-4ADE-BBB4-858F8B16A62D}" type="pres">
      <dgm:prSet presAssocID="{5086D860-6423-4499-9CCE-4E9CDD52D4AD}" presName="hierRoot2" presStyleCnt="0">
        <dgm:presLayoutVars>
          <dgm:hierBranch val="init"/>
        </dgm:presLayoutVars>
      </dgm:prSet>
      <dgm:spPr/>
    </dgm:pt>
    <dgm:pt modelId="{EEEE74E2-68EA-4D4C-8AD7-98D8A551DED2}" type="pres">
      <dgm:prSet presAssocID="{5086D860-6423-4499-9CCE-4E9CDD52D4AD}" presName="rootComposite" presStyleCnt="0"/>
      <dgm:spPr/>
    </dgm:pt>
    <dgm:pt modelId="{75D86A03-3167-430A-B0DF-50AB506C6A28}" type="pres">
      <dgm:prSet presAssocID="{5086D860-6423-4499-9CCE-4E9CDD52D4AD}" presName="rootText" presStyleLbl="node2" presStyleIdx="1" presStyleCnt="2">
        <dgm:presLayoutVars>
          <dgm:chPref val="3"/>
        </dgm:presLayoutVars>
      </dgm:prSet>
      <dgm:spPr/>
    </dgm:pt>
    <dgm:pt modelId="{40C64665-69A3-47A9-98EE-CD84DC7B4672}" type="pres">
      <dgm:prSet presAssocID="{5086D860-6423-4499-9CCE-4E9CDD52D4AD}" presName="rootConnector" presStyleLbl="node2" presStyleIdx="1" presStyleCnt="2"/>
      <dgm:spPr/>
    </dgm:pt>
    <dgm:pt modelId="{381DAE1D-CD89-4194-BAA3-519F0E8FA845}" type="pres">
      <dgm:prSet presAssocID="{5086D860-6423-4499-9CCE-4E9CDD52D4AD}" presName="hierChild4" presStyleCnt="0"/>
      <dgm:spPr/>
    </dgm:pt>
    <dgm:pt modelId="{3DF2ED1C-7AAE-4925-9733-BD7E3A61EAFA}" type="pres">
      <dgm:prSet presAssocID="{5086D860-6423-4499-9CCE-4E9CDD52D4AD}" presName="hierChild5" presStyleCnt="0"/>
      <dgm:spPr/>
    </dgm:pt>
    <dgm:pt modelId="{AF7CDC06-3E4A-4EE6-B5C6-4A3BF6D3F402}" type="pres">
      <dgm:prSet presAssocID="{8AD1B3CA-B0E6-43EF-8C4A-B1B134DD356A}" presName="hierChild3" presStyleCnt="0"/>
      <dgm:spPr/>
    </dgm:pt>
  </dgm:ptLst>
  <dgm:cxnLst>
    <dgm:cxn modelId="{0A8B1214-A560-4C7B-ADB9-3B4014A3F4B9}" srcId="{8AD1B3CA-B0E6-43EF-8C4A-B1B134DD356A}" destId="{5086D860-6423-4499-9CCE-4E9CDD52D4AD}" srcOrd="1" destOrd="0" parTransId="{C783CB50-E6CD-4D03-8092-41C08EA6490C}" sibTransId="{4E7CF6D7-A584-4533-BDAF-316983E75D92}"/>
    <dgm:cxn modelId="{B4BE9327-6872-4EC7-8DC1-F261F326A796}" type="presOf" srcId="{00B2255C-16A4-445F-B5BA-2FB419CEC02A}" destId="{DFB2953F-751C-49BA-87FC-58B4EC3F777C}" srcOrd="0" destOrd="0" presId="urn:microsoft.com/office/officeart/2005/8/layout/orgChart1"/>
    <dgm:cxn modelId="{2E89E233-3230-4B8A-90AC-87A97FA8A577}" srcId="{00B2255C-16A4-445F-B5BA-2FB419CEC02A}" destId="{8AD1B3CA-B0E6-43EF-8C4A-B1B134DD356A}" srcOrd="0" destOrd="0" parTransId="{0670316F-E536-49FD-9B04-EAAD704AEFAB}" sibTransId="{27C8C05A-6E4E-4706-BBAD-04986FAFAB30}"/>
    <dgm:cxn modelId="{C6F6FA6A-9F7B-42A7-AB9C-59E927B0E427}" srcId="{8AD1B3CA-B0E6-43EF-8C4A-B1B134DD356A}" destId="{7AE7CED3-8849-4D64-BF55-E7C4DDBEA4E1}" srcOrd="0" destOrd="0" parTransId="{FE8569D0-55CE-4200-8FE8-80CE854733B6}" sibTransId="{D7AB0354-50AD-455B-BFC2-E763027CB473}"/>
    <dgm:cxn modelId="{A194CD4C-0668-4FFC-982B-22413A333866}" type="presOf" srcId="{7AE7CED3-8849-4D64-BF55-E7C4DDBEA4E1}" destId="{21176B86-983F-4839-B4AD-595FCA3EEE35}" srcOrd="0" destOrd="0" presId="urn:microsoft.com/office/officeart/2005/8/layout/orgChart1"/>
    <dgm:cxn modelId="{780AF571-58F0-41D9-B37E-3444A21C0CEE}" type="presOf" srcId="{8AD1B3CA-B0E6-43EF-8C4A-B1B134DD356A}" destId="{A504EC4E-78A5-4BC2-9B50-DD48E8B0203E}" srcOrd="1" destOrd="0" presId="urn:microsoft.com/office/officeart/2005/8/layout/orgChart1"/>
    <dgm:cxn modelId="{3ED49C5A-151B-4D3F-86EB-95A8AC9BDCC7}" type="presOf" srcId="{8AD1B3CA-B0E6-43EF-8C4A-B1B134DD356A}" destId="{2873FA39-DB84-46C2-A9F1-66BDA722442E}" srcOrd="0" destOrd="0" presId="urn:microsoft.com/office/officeart/2005/8/layout/orgChart1"/>
    <dgm:cxn modelId="{36F964A0-1653-4C76-B4FB-CC5E7E1B8A63}" type="presOf" srcId="{7AE7CED3-8849-4D64-BF55-E7C4DDBEA4E1}" destId="{49944810-74B0-4512-A9B6-E6D09F36FCC7}" srcOrd="1" destOrd="0" presId="urn:microsoft.com/office/officeart/2005/8/layout/orgChart1"/>
    <dgm:cxn modelId="{D9590CAB-E6B8-4E08-A157-34DC586D617D}" type="presOf" srcId="{5086D860-6423-4499-9CCE-4E9CDD52D4AD}" destId="{40C64665-69A3-47A9-98EE-CD84DC7B4672}" srcOrd="1" destOrd="0" presId="urn:microsoft.com/office/officeart/2005/8/layout/orgChart1"/>
    <dgm:cxn modelId="{1D990DDA-946E-42BB-89BE-2C51CDCAEF80}" type="presOf" srcId="{C783CB50-E6CD-4D03-8092-41C08EA6490C}" destId="{A82BDD0B-7D39-44EA-B3C1-384CB98E68E0}" srcOrd="0" destOrd="0" presId="urn:microsoft.com/office/officeart/2005/8/layout/orgChart1"/>
    <dgm:cxn modelId="{5B3F18E3-F4E1-49A9-8282-135021E8A349}" type="presOf" srcId="{5086D860-6423-4499-9CCE-4E9CDD52D4AD}" destId="{75D86A03-3167-430A-B0DF-50AB506C6A28}" srcOrd="0" destOrd="0" presId="urn:microsoft.com/office/officeart/2005/8/layout/orgChart1"/>
    <dgm:cxn modelId="{609AB2F5-CF3A-400C-A9A5-1E99ED65B2E3}" type="presOf" srcId="{FE8569D0-55CE-4200-8FE8-80CE854733B6}" destId="{24905384-0636-47D4-93B2-172572EAD02C}" srcOrd="0" destOrd="0" presId="urn:microsoft.com/office/officeart/2005/8/layout/orgChart1"/>
    <dgm:cxn modelId="{5B294895-0F13-468C-B1B0-4345B90BA837}" type="presParOf" srcId="{DFB2953F-751C-49BA-87FC-58B4EC3F777C}" destId="{D1B6A409-C1B0-495D-AE3C-AB61E3ABBB80}" srcOrd="0" destOrd="0" presId="urn:microsoft.com/office/officeart/2005/8/layout/orgChart1"/>
    <dgm:cxn modelId="{820628C5-648A-433B-8BE2-A6E5F9F2628C}" type="presParOf" srcId="{D1B6A409-C1B0-495D-AE3C-AB61E3ABBB80}" destId="{7579F8F3-9D65-40E9-8F11-1FD235581C6A}" srcOrd="0" destOrd="0" presId="urn:microsoft.com/office/officeart/2005/8/layout/orgChart1"/>
    <dgm:cxn modelId="{1C41C57F-1C34-45D0-A430-8C202F85CC42}" type="presParOf" srcId="{7579F8F3-9D65-40E9-8F11-1FD235581C6A}" destId="{2873FA39-DB84-46C2-A9F1-66BDA722442E}" srcOrd="0" destOrd="0" presId="urn:microsoft.com/office/officeart/2005/8/layout/orgChart1"/>
    <dgm:cxn modelId="{F1793524-64E1-4D84-9519-839A4C63445A}" type="presParOf" srcId="{7579F8F3-9D65-40E9-8F11-1FD235581C6A}" destId="{A504EC4E-78A5-4BC2-9B50-DD48E8B0203E}" srcOrd="1" destOrd="0" presId="urn:microsoft.com/office/officeart/2005/8/layout/orgChart1"/>
    <dgm:cxn modelId="{5A03ED32-5D2D-4901-A1C1-5FFD4BFC5EB7}" type="presParOf" srcId="{D1B6A409-C1B0-495D-AE3C-AB61E3ABBB80}" destId="{1F9C85F1-3CFA-46AB-A4EA-F9CDA799AF8F}" srcOrd="1" destOrd="0" presId="urn:microsoft.com/office/officeart/2005/8/layout/orgChart1"/>
    <dgm:cxn modelId="{DA434E50-F38A-436D-BC77-B0ADF78837B8}" type="presParOf" srcId="{1F9C85F1-3CFA-46AB-A4EA-F9CDA799AF8F}" destId="{24905384-0636-47D4-93B2-172572EAD02C}" srcOrd="0" destOrd="0" presId="urn:microsoft.com/office/officeart/2005/8/layout/orgChart1"/>
    <dgm:cxn modelId="{02157383-91EC-40DE-8927-AA2C0760630B}" type="presParOf" srcId="{1F9C85F1-3CFA-46AB-A4EA-F9CDA799AF8F}" destId="{5743D618-E536-4A1F-9E1F-B65B099DF2F6}" srcOrd="1" destOrd="0" presId="urn:microsoft.com/office/officeart/2005/8/layout/orgChart1"/>
    <dgm:cxn modelId="{9F1E6940-637F-4AF5-AC7F-9CD2397B720F}" type="presParOf" srcId="{5743D618-E536-4A1F-9E1F-B65B099DF2F6}" destId="{BCE606F0-72DC-46BE-93DA-CA69F1F28FCA}" srcOrd="0" destOrd="0" presId="urn:microsoft.com/office/officeart/2005/8/layout/orgChart1"/>
    <dgm:cxn modelId="{A0066EB6-9931-460F-BDF9-31399EBEF7B2}" type="presParOf" srcId="{BCE606F0-72DC-46BE-93DA-CA69F1F28FCA}" destId="{21176B86-983F-4839-B4AD-595FCA3EEE35}" srcOrd="0" destOrd="0" presId="urn:microsoft.com/office/officeart/2005/8/layout/orgChart1"/>
    <dgm:cxn modelId="{4C7DE4F6-E70B-422A-9727-D7C3D4DBBB1F}" type="presParOf" srcId="{BCE606F0-72DC-46BE-93DA-CA69F1F28FCA}" destId="{49944810-74B0-4512-A9B6-E6D09F36FCC7}" srcOrd="1" destOrd="0" presId="urn:microsoft.com/office/officeart/2005/8/layout/orgChart1"/>
    <dgm:cxn modelId="{515802E7-0387-439A-AE59-64C808E79A5F}" type="presParOf" srcId="{5743D618-E536-4A1F-9E1F-B65B099DF2F6}" destId="{52AB5B0D-99AD-4F2E-B4A4-8F5CB1A6BA7C}" srcOrd="1" destOrd="0" presId="urn:microsoft.com/office/officeart/2005/8/layout/orgChart1"/>
    <dgm:cxn modelId="{002DE06D-45C4-49FE-9539-267018202DA1}" type="presParOf" srcId="{5743D618-E536-4A1F-9E1F-B65B099DF2F6}" destId="{46162C11-AB2C-4CAA-BC17-4B7952CD18D3}" srcOrd="2" destOrd="0" presId="urn:microsoft.com/office/officeart/2005/8/layout/orgChart1"/>
    <dgm:cxn modelId="{CBA54F56-0F25-434B-BDCF-9FC2B452CA7D}" type="presParOf" srcId="{1F9C85F1-3CFA-46AB-A4EA-F9CDA799AF8F}" destId="{A82BDD0B-7D39-44EA-B3C1-384CB98E68E0}" srcOrd="2" destOrd="0" presId="urn:microsoft.com/office/officeart/2005/8/layout/orgChart1"/>
    <dgm:cxn modelId="{088E8416-CEB8-43A1-ACA2-30FEC1034AF8}" type="presParOf" srcId="{1F9C85F1-3CFA-46AB-A4EA-F9CDA799AF8F}" destId="{B0936F22-6AEC-4ADE-BBB4-858F8B16A62D}" srcOrd="3" destOrd="0" presId="urn:microsoft.com/office/officeart/2005/8/layout/orgChart1"/>
    <dgm:cxn modelId="{E6C44DD4-2144-45F0-9D7F-2473524C3DCE}" type="presParOf" srcId="{B0936F22-6AEC-4ADE-BBB4-858F8B16A62D}" destId="{EEEE74E2-68EA-4D4C-8AD7-98D8A551DED2}" srcOrd="0" destOrd="0" presId="urn:microsoft.com/office/officeart/2005/8/layout/orgChart1"/>
    <dgm:cxn modelId="{7438B2F4-FCF6-45B2-8AA9-182CAC541F20}" type="presParOf" srcId="{EEEE74E2-68EA-4D4C-8AD7-98D8A551DED2}" destId="{75D86A03-3167-430A-B0DF-50AB506C6A28}" srcOrd="0" destOrd="0" presId="urn:microsoft.com/office/officeart/2005/8/layout/orgChart1"/>
    <dgm:cxn modelId="{726F6D32-7BDA-49A8-8188-C8CC06705FA8}" type="presParOf" srcId="{EEEE74E2-68EA-4D4C-8AD7-98D8A551DED2}" destId="{40C64665-69A3-47A9-98EE-CD84DC7B4672}" srcOrd="1" destOrd="0" presId="urn:microsoft.com/office/officeart/2005/8/layout/orgChart1"/>
    <dgm:cxn modelId="{2ECE2EAC-7177-4D23-90CE-EA4D1CB1D2D1}" type="presParOf" srcId="{B0936F22-6AEC-4ADE-BBB4-858F8B16A62D}" destId="{381DAE1D-CD89-4194-BAA3-519F0E8FA845}" srcOrd="1" destOrd="0" presId="urn:microsoft.com/office/officeart/2005/8/layout/orgChart1"/>
    <dgm:cxn modelId="{6C1C6073-8968-47F4-8452-084EAE1E43DB}" type="presParOf" srcId="{B0936F22-6AEC-4ADE-BBB4-858F8B16A62D}" destId="{3DF2ED1C-7AAE-4925-9733-BD7E3A61EAFA}" srcOrd="2" destOrd="0" presId="urn:microsoft.com/office/officeart/2005/8/layout/orgChart1"/>
    <dgm:cxn modelId="{5A975C45-421F-4291-959A-18A63D1705B3}" type="presParOf" srcId="{D1B6A409-C1B0-495D-AE3C-AB61E3ABBB80}" destId="{AF7CDC06-3E4A-4EE6-B5C6-4A3BF6D3F402}"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6E86A4-8336-48A1-8C27-05F6C3136C9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pt-BR"/>
        </a:p>
      </dgm:t>
    </dgm:pt>
    <dgm:pt modelId="{F022508E-E4CB-4EAF-8C4A-B5BDF05F0AB0}">
      <dgm:prSet/>
      <dgm:spPr/>
      <dgm:t>
        <a:bodyPr/>
        <a:lstStyle/>
        <a:p>
          <a:r>
            <a:rPr lang="pt-BR" dirty="0"/>
            <a:t>Consiste em retirar do núcleo todo o código de alto nível, deixando no núcleo somente o código de baixo nível necessário para interagir com o hardware e criar as abstrações fundamentais (como a noção de atividade). </a:t>
          </a:r>
        </a:p>
      </dgm:t>
    </dgm:pt>
    <dgm:pt modelId="{C0D116C7-DEBE-4A44-828C-E4335220DE33}" type="parTrans" cxnId="{F08403C1-3E67-4862-AB93-7EC366A1D756}">
      <dgm:prSet/>
      <dgm:spPr/>
      <dgm:t>
        <a:bodyPr/>
        <a:lstStyle/>
        <a:p>
          <a:endParaRPr lang="pt-BR"/>
        </a:p>
      </dgm:t>
    </dgm:pt>
    <dgm:pt modelId="{DA407F0C-86F9-48CA-9259-00315A836B94}" type="sibTrans" cxnId="{F08403C1-3E67-4862-AB93-7EC366A1D756}">
      <dgm:prSet/>
      <dgm:spPr/>
      <dgm:t>
        <a:bodyPr/>
        <a:lstStyle/>
        <a:p>
          <a:endParaRPr lang="pt-BR"/>
        </a:p>
      </dgm:t>
    </dgm:pt>
    <dgm:pt modelId="{99F37C17-5E56-411F-AB4E-6F5800341D26}" type="pres">
      <dgm:prSet presAssocID="{2D6E86A4-8336-48A1-8C27-05F6C3136C90}" presName="linear" presStyleCnt="0">
        <dgm:presLayoutVars>
          <dgm:animLvl val="lvl"/>
          <dgm:resizeHandles val="exact"/>
        </dgm:presLayoutVars>
      </dgm:prSet>
      <dgm:spPr/>
    </dgm:pt>
    <dgm:pt modelId="{1D39129E-3C4D-44EB-8A5D-F8A334356A0D}" type="pres">
      <dgm:prSet presAssocID="{F022508E-E4CB-4EAF-8C4A-B5BDF05F0AB0}" presName="parentText" presStyleLbl="node1" presStyleIdx="0" presStyleCnt="1">
        <dgm:presLayoutVars>
          <dgm:chMax val="0"/>
          <dgm:bulletEnabled val="1"/>
        </dgm:presLayoutVars>
      </dgm:prSet>
      <dgm:spPr/>
    </dgm:pt>
  </dgm:ptLst>
  <dgm:cxnLst>
    <dgm:cxn modelId="{B2A19239-35CD-4331-9F1C-ECDE486608D0}" type="presOf" srcId="{F022508E-E4CB-4EAF-8C4A-B5BDF05F0AB0}" destId="{1D39129E-3C4D-44EB-8A5D-F8A334356A0D}" srcOrd="0" destOrd="0" presId="urn:microsoft.com/office/officeart/2005/8/layout/vList2"/>
    <dgm:cxn modelId="{D2B5E250-50BF-4189-98F6-174B30FC8DC8}" type="presOf" srcId="{2D6E86A4-8336-48A1-8C27-05F6C3136C90}" destId="{99F37C17-5E56-411F-AB4E-6F5800341D26}" srcOrd="0" destOrd="0" presId="urn:microsoft.com/office/officeart/2005/8/layout/vList2"/>
    <dgm:cxn modelId="{F08403C1-3E67-4862-AB93-7EC366A1D756}" srcId="{2D6E86A4-8336-48A1-8C27-05F6C3136C90}" destId="{F022508E-E4CB-4EAF-8C4A-B5BDF05F0AB0}" srcOrd="0" destOrd="0" parTransId="{C0D116C7-DEBE-4A44-828C-E4335220DE33}" sibTransId="{DA407F0C-86F9-48CA-9259-00315A836B94}"/>
    <dgm:cxn modelId="{1B899792-006C-4B84-A768-F1CD00595105}" type="presParOf" srcId="{99F37C17-5E56-411F-AB4E-6F5800341D26}" destId="{1D39129E-3C4D-44EB-8A5D-F8A334356A0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4282A65-C71B-47DC-9658-BB4137B4AAAC}"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pt-BR"/>
        </a:p>
      </dgm:t>
    </dgm:pt>
    <dgm:pt modelId="{4B64BDC8-23CF-467C-995F-E45B5AB74D11}">
      <dgm:prSet/>
      <dgm:spPr/>
      <dgm:t>
        <a:bodyPr/>
        <a:lstStyle/>
        <a:p>
          <a:r>
            <a:rPr lang="pt-BR"/>
            <a:t>Ex:</a:t>
          </a:r>
        </a:p>
      </dgm:t>
    </dgm:pt>
    <dgm:pt modelId="{1F1C9B51-4ABF-4A84-B718-8868F4172429}" type="parTrans" cxnId="{54E297CC-094D-4812-ADE5-06D2766835AE}">
      <dgm:prSet/>
      <dgm:spPr/>
      <dgm:t>
        <a:bodyPr/>
        <a:lstStyle/>
        <a:p>
          <a:endParaRPr lang="pt-BR"/>
        </a:p>
      </dgm:t>
    </dgm:pt>
    <dgm:pt modelId="{D130D115-431C-4BA3-B7A6-C661AA66F34D}" type="sibTrans" cxnId="{54E297CC-094D-4812-ADE5-06D2766835AE}">
      <dgm:prSet/>
      <dgm:spPr/>
      <dgm:t>
        <a:bodyPr/>
        <a:lstStyle/>
        <a:p>
          <a:endParaRPr lang="pt-BR"/>
        </a:p>
      </dgm:t>
    </dgm:pt>
    <dgm:pt modelId="{99AC00E8-B4D8-4909-B28D-E96C930B4BAD}">
      <dgm:prSet/>
      <dgm:spPr/>
      <dgm:t>
        <a:bodyPr/>
        <a:lstStyle/>
        <a:p>
          <a:r>
            <a:rPr lang="pt-BR"/>
            <a:t>Usando essa abordagem o código de acesso aos blocos de um disco rígido seria mantido no núcleo, enquanto as abstrações de arquivo e diretório seriam criadas e mantidas por um código fora do núcleo, executando da mesma forma que uma aplicação do usuário.</a:t>
          </a:r>
        </a:p>
      </dgm:t>
    </dgm:pt>
    <dgm:pt modelId="{2715F88E-9941-4481-9ECB-1C86ED4BB853}" type="parTrans" cxnId="{92B4F3FA-366E-43A5-8A06-BCFA20FC5214}">
      <dgm:prSet/>
      <dgm:spPr/>
      <dgm:t>
        <a:bodyPr/>
        <a:lstStyle/>
        <a:p>
          <a:endParaRPr lang="pt-BR"/>
        </a:p>
      </dgm:t>
    </dgm:pt>
    <dgm:pt modelId="{987EB70D-824D-4676-84F5-F544CCB36F58}" type="sibTrans" cxnId="{92B4F3FA-366E-43A5-8A06-BCFA20FC5214}">
      <dgm:prSet/>
      <dgm:spPr/>
      <dgm:t>
        <a:bodyPr/>
        <a:lstStyle/>
        <a:p>
          <a:endParaRPr lang="pt-BR"/>
        </a:p>
      </dgm:t>
    </dgm:pt>
    <dgm:pt modelId="{0714FB52-179B-4891-95D6-AD272952F1E8}" type="pres">
      <dgm:prSet presAssocID="{D4282A65-C71B-47DC-9658-BB4137B4AAAC}" presName="Name0" presStyleCnt="0">
        <dgm:presLayoutVars>
          <dgm:dir/>
          <dgm:animLvl val="lvl"/>
          <dgm:resizeHandles val="exact"/>
        </dgm:presLayoutVars>
      </dgm:prSet>
      <dgm:spPr/>
    </dgm:pt>
    <dgm:pt modelId="{212CEE71-1E4C-42CE-A835-420FE226B43E}" type="pres">
      <dgm:prSet presAssocID="{4B64BDC8-23CF-467C-995F-E45B5AB74D11}" presName="composite" presStyleCnt="0"/>
      <dgm:spPr/>
    </dgm:pt>
    <dgm:pt modelId="{3C05E931-D7F5-4BD8-97AB-F88FF8540631}" type="pres">
      <dgm:prSet presAssocID="{4B64BDC8-23CF-467C-995F-E45B5AB74D11}" presName="parTx" presStyleLbl="alignNode1" presStyleIdx="0" presStyleCnt="1">
        <dgm:presLayoutVars>
          <dgm:chMax val="0"/>
          <dgm:chPref val="0"/>
          <dgm:bulletEnabled val="1"/>
        </dgm:presLayoutVars>
      </dgm:prSet>
      <dgm:spPr/>
    </dgm:pt>
    <dgm:pt modelId="{B0E163B7-CFE8-48A3-A176-C9A56C5C5028}" type="pres">
      <dgm:prSet presAssocID="{4B64BDC8-23CF-467C-995F-E45B5AB74D11}" presName="desTx" presStyleLbl="alignAccFollowNode1" presStyleIdx="0" presStyleCnt="1">
        <dgm:presLayoutVars>
          <dgm:bulletEnabled val="1"/>
        </dgm:presLayoutVars>
      </dgm:prSet>
      <dgm:spPr/>
    </dgm:pt>
  </dgm:ptLst>
  <dgm:cxnLst>
    <dgm:cxn modelId="{2BB238C1-01F1-48ED-AC75-E72196D18442}" type="presOf" srcId="{4B64BDC8-23CF-467C-995F-E45B5AB74D11}" destId="{3C05E931-D7F5-4BD8-97AB-F88FF8540631}" srcOrd="0" destOrd="0" presId="urn:microsoft.com/office/officeart/2005/8/layout/hList1"/>
    <dgm:cxn modelId="{54E297CC-094D-4812-ADE5-06D2766835AE}" srcId="{D4282A65-C71B-47DC-9658-BB4137B4AAAC}" destId="{4B64BDC8-23CF-467C-995F-E45B5AB74D11}" srcOrd="0" destOrd="0" parTransId="{1F1C9B51-4ABF-4A84-B718-8868F4172429}" sibTransId="{D130D115-431C-4BA3-B7A6-C661AA66F34D}"/>
    <dgm:cxn modelId="{8D54B6D4-B6B3-4157-A618-F5324AB29C0A}" type="presOf" srcId="{D4282A65-C71B-47DC-9658-BB4137B4AAAC}" destId="{0714FB52-179B-4891-95D6-AD272952F1E8}" srcOrd="0" destOrd="0" presId="urn:microsoft.com/office/officeart/2005/8/layout/hList1"/>
    <dgm:cxn modelId="{0DBD84D6-18A0-4873-B064-EE9630B7691C}" type="presOf" srcId="{99AC00E8-B4D8-4909-B28D-E96C930B4BAD}" destId="{B0E163B7-CFE8-48A3-A176-C9A56C5C5028}" srcOrd="0" destOrd="0" presId="urn:microsoft.com/office/officeart/2005/8/layout/hList1"/>
    <dgm:cxn modelId="{92B4F3FA-366E-43A5-8A06-BCFA20FC5214}" srcId="{4B64BDC8-23CF-467C-995F-E45B5AB74D11}" destId="{99AC00E8-B4D8-4909-B28D-E96C930B4BAD}" srcOrd="0" destOrd="0" parTransId="{2715F88E-9941-4481-9ECB-1C86ED4BB853}" sibTransId="{987EB70D-824D-4676-84F5-F544CCB36F58}"/>
    <dgm:cxn modelId="{21F3C373-1B14-49D2-BE16-129BB992163E}" type="presParOf" srcId="{0714FB52-179B-4891-95D6-AD272952F1E8}" destId="{212CEE71-1E4C-42CE-A835-420FE226B43E}" srcOrd="0" destOrd="0" presId="urn:microsoft.com/office/officeart/2005/8/layout/hList1"/>
    <dgm:cxn modelId="{015A02B0-FC9C-45E0-B066-2CDC5135F3BD}" type="presParOf" srcId="{212CEE71-1E4C-42CE-A835-420FE226B43E}" destId="{3C05E931-D7F5-4BD8-97AB-F88FF8540631}" srcOrd="0" destOrd="0" presId="urn:microsoft.com/office/officeart/2005/8/layout/hList1"/>
    <dgm:cxn modelId="{D8C96387-3E97-4008-BA50-FB737DF01910}" type="presParOf" srcId="{212CEE71-1E4C-42CE-A835-420FE226B43E}" destId="{B0E163B7-CFE8-48A3-A176-C9A56C5C5028}"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1D26F15-304E-4481-9B76-09972B6FEC0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pt-BR"/>
        </a:p>
      </dgm:t>
    </dgm:pt>
    <dgm:pt modelId="{2F9F302B-8515-4F24-98AB-4C54776CD62F}">
      <dgm:prSet/>
      <dgm:spPr/>
      <dgm:t>
        <a:bodyPr/>
        <a:lstStyle/>
        <a:p>
          <a:r>
            <a:rPr lang="pt-BR"/>
            <a:t>Robustez:</a:t>
          </a:r>
        </a:p>
      </dgm:t>
    </dgm:pt>
    <dgm:pt modelId="{6BF356DA-DF0B-4B0A-A85D-72AA48F621E9}" type="parTrans" cxnId="{562572E0-58EF-4C2E-85EA-5FE1C06E13D6}">
      <dgm:prSet/>
      <dgm:spPr/>
      <dgm:t>
        <a:bodyPr/>
        <a:lstStyle/>
        <a:p>
          <a:endParaRPr lang="pt-BR"/>
        </a:p>
      </dgm:t>
    </dgm:pt>
    <dgm:pt modelId="{FFDC65F2-1B52-4CAB-9C52-37D0CC6A1ADD}" type="sibTrans" cxnId="{562572E0-58EF-4C2E-85EA-5FE1C06E13D6}">
      <dgm:prSet/>
      <dgm:spPr/>
      <dgm:t>
        <a:bodyPr/>
        <a:lstStyle/>
        <a:p>
          <a:endParaRPr lang="pt-BR"/>
        </a:p>
      </dgm:t>
    </dgm:pt>
    <dgm:pt modelId="{3F29A77B-B3C7-4D2E-BD60-F90111BFAEE4}">
      <dgm:prSet/>
      <dgm:spPr/>
      <dgm:t>
        <a:bodyPr/>
        <a:lstStyle/>
        <a:p>
          <a:r>
            <a:rPr lang="pt-BR"/>
            <a:t>Caso um sub-sistema tenha problemas, os mecanismos de proteção de memória e níveis de privilégio irão confiná-lo, impedindo que a instabilidade se alastre ao restante do sistema.</a:t>
          </a:r>
        </a:p>
      </dgm:t>
    </dgm:pt>
    <dgm:pt modelId="{6284EB7C-0CB8-402E-8C7A-2C8EA7E097F6}" type="parTrans" cxnId="{33F28691-6C84-455A-B017-D76F243050CF}">
      <dgm:prSet/>
      <dgm:spPr/>
      <dgm:t>
        <a:bodyPr/>
        <a:lstStyle/>
        <a:p>
          <a:endParaRPr lang="pt-BR"/>
        </a:p>
      </dgm:t>
    </dgm:pt>
    <dgm:pt modelId="{7169D57E-37FC-4619-89DD-ACA4C867C111}" type="sibTrans" cxnId="{33F28691-6C84-455A-B017-D76F243050CF}">
      <dgm:prSet/>
      <dgm:spPr/>
      <dgm:t>
        <a:bodyPr/>
        <a:lstStyle/>
        <a:p>
          <a:endParaRPr lang="pt-BR"/>
        </a:p>
      </dgm:t>
    </dgm:pt>
    <dgm:pt modelId="{7F563015-1540-4327-A2C9-08C1893DB83B}">
      <dgm:prSet/>
      <dgm:spPr/>
      <dgm:t>
        <a:bodyPr/>
        <a:lstStyle/>
        <a:p>
          <a:r>
            <a:rPr lang="pt-BR"/>
            <a:t>Flexibilidade:</a:t>
          </a:r>
        </a:p>
      </dgm:t>
    </dgm:pt>
    <dgm:pt modelId="{934A74A4-64A4-4C30-A195-7495ACE81A0D}" type="parTrans" cxnId="{1B8CE255-4E93-40BB-9CF6-3CFC07492A5F}">
      <dgm:prSet/>
      <dgm:spPr/>
      <dgm:t>
        <a:bodyPr/>
        <a:lstStyle/>
        <a:p>
          <a:endParaRPr lang="pt-BR"/>
        </a:p>
      </dgm:t>
    </dgm:pt>
    <dgm:pt modelId="{E33B7E15-2AF2-47E4-B6BB-B8BFF12692CA}" type="sibTrans" cxnId="{1B8CE255-4E93-40BB-9CF6-3CFC07492A5F}">
      <dgm:prSet/>
      <dgm:spPr/>
      <dgm:t>
        <a:bodyPr/>
        <a:lstStyle/>
        <a:p>
          <a:endParaRPr lang="pt-BR"/>
        </a:p>
      </dgm:t>
    </dgm:pt>
    <dgm:pt modelId="{1538EBA7-65B1-4401-9FC7-0882C9E3A82C}">
      <dgm:prSet/>
      <dgm:spPr/>
      <dgm:t>
        <a:bodyPr/>
        <a:lstStyle/>
        <a:p>
          <a:r>
            <a:rPr lang="pt-BR"/>
            <a:t>É possível customizar o sistema operacional, iniciando somente os componentes necessários ou escolhendo os componentes mais adequados às aplicações que serão executadas.</a:t>
          </a:r>
        </a:p>
      </dgm:t>
    </dgm:pt>
    <dgm:pt modelId="{04371F30-D8D4-4667-ACC9-EE3C136A16AC}" type="parTrans" cxnId="{8BC184E5-9C0A-49A0-9EA9-EE615B9EEC84}">
      <dgm:prSet/>
      <dgm:spPr/>
      <dgm:t>
        <a:bodyPr/>
        <a:lstStyle/>
        <a:p>
          <a:endParaRPr lang="pt-BR"/>
        </a:p>
      </dgm:t>
    </dgm:pt>
    <dgm:pt modelId="{D67A53BE-2C1F-44FD-92C6-43D70AE333B1}" type="sibTrans" cxnId="{8BC184E5-9C0A-49A0-9EA9-EE615B9EEC84}">
      <dgm:prSet/>
      <dgm:spPr/>
      <dgm:t>
        <a:bodyPr/>
        <a:lstStyle/>
        <a:p>
          <a:endParaRPr lang="pt-BR"/>
        </a:p>
      </dgm:t>
    </dgm:pt>
    <dgm:pt modelId="{5AE39343-EA92-4660-9ECA-C366D2FB5BF5}" type="pres">
      <dgm:prSet presAssocID="{C1D26F15-304E-4481-9B76-09972B6FEC0B}" presName="linear" presStyleCnt="0">
        <dgm:presLayoutVars>
          <dgm:animLvl val="lvl"/>
          <dgm:resizeHandles val="exact"/>
        </dgm:presLayoutVars>
      </dgm:prSet>
      <dgm:spPr/>
    </dgm:pt>
    <dgm:pt modelId="{F879E610-B017-44CA-8F78-4CAA79A2754B}" type="pres">
      <dgm:prSet presAssocID="{2F9F302B-8515-4F24-98AB-4C54776CD62F}" presName="parentText" presStyleLbl="node1" presStyleIdx="0" presStyleCnt="2">
        <dgm:presLayoutVars>
          <dgm:chMax val="0"/>
          <dgm:bulletEnabled val="1"/>
        </dgm:presLayoutVars>
      </dgm:prSet>
      <dgm:spPr/>
    </dgm:pt>
    <dgm:pt modelId="{396C7E06-BDEB-4664-ADFC-87002F0C58B5}" type="pres">
      <dgm:prSet presAssocID="{2F9F302B-8515-4F24-98AB-4C54776CD62F}" presName="childText" presStyleLbl="revTx" presStyleIdx="0" presStyleCnt="2">
        <dgm:presLayoutVars>
          <dgm:bulletEnabled val="1"/>
        </dgm:presLayoutVars>
      </dgm:prSet>
      <dgm:spPr/>
    </dgm:pt>
    <dgm:pt modelId="{E02D9E01-5B61-4E31-A80E-EC5110BF3A38}" type="pres">
      <dgm:prSet presAssocID="{7F563015-1540-4327-A2C9-08C1893DB83B}" presName="parentText" presStyleLbl="node1" presStyleIdx="1" presStyleCnt="2">
        <dgm:presLayoutVars>
          <dgm:chMax val="0"/>
          <dgm:bulletEnabled val="1"/>
        </dgm:presLayoutVars>
      </dgm:prSet>
      <dgm:spPr/>
    </dgm:pt>
    <dgm:pt modelId="{391F6836-DDA2-46AF-97BA-CBE5F9BC7288}" type="pres">
      <dgm:prSet presAssocID="{7F563015-1540-4327-A2C9-08C1893DB83B}" presName="childText" presStyleLbl="revTx" presStyleIdx="1" presStyleCnt="2">
        <dgm:presLayoutVars>
          <dgm:bulletEnabled val="1"/>
        </dgm:presLayoutVars>
      </dgm:prSet>
      <dgm:spPr/>
    </dgm:pt>
  </dgm:ptLst>
  <dgm:cxnLst>
    <dgm:cxn modelId="{8D9CCC01-A2B0-4DF6-92A3-53AED562FA1C}" type="presOf" srcId="{1538EBA7-65B1-4401-9FC7-0882C9E3A82C}" destId="{391F6836-DDA2-46AF-97BA-CBE5F9BC7288}" srcOrd="0" destOrd="0" presId="urn:microsoft.com/office/officeart/2005/8/layout/vList2"/>
    <dgm:cxn modelId="{3EC34E3E-3677-4300-B447-25B6C57A69A8}" type="presOf" srcId="{2F9F302B-8515-4F24-98AB-4C54776CD62F}" destId="{F879E610-B017-44CA-8F78-4CAA79A2754B}" srcOrd="0" destOrd="0" presId="urn:microsoft.com/office/officeart/2005/8/layout/vList2"/>
    <dgm:cxn modelId="{1B8CE255-4E93-40BB-9CF6-3CFC07492A5F}" srcId="{C1D26F15-304E-4481-9B76-09972B6FEC0B}" destId="{7F563015-1540-4327-A2C9-08C1893DB83B}" srcOrd="1" destOrd="0" parTransId="{934A74A4-64A4-4C30-A195-7495ACE81A0D}" sibTransId="{E33B7E15-2AF2-47E4-B6BB-B8BFF12692CA}"/>
    <dgm:cxn modelId="{33F28691-6C84-455A-B017-D76F243050CF}" srcId="{2F9F302B-8515-4F24-98AB-4C54776CD62F}" destId="{3F29A77B-B3C7-4D2E-BD60-F90111BFAEE4}" srcOrd="0" destOrd="0" parTransId="{6284EB7C-0CB8-402E-8C7A-2C8EA7E097F6}" sibTransId="{7169D57E-37FC-4619-89DD-ACA4C867C111}"/>
    <dgm:cxn modelId="{A5B838D9-A049-465E-A708-C65D06CE25AA}" type="presOf" srcId="{C1D26F15-304E-4481-9B76-09972B6FEC0B}" destId="{5AE39343-EA92-4660-9ECA-C366D2FB5BF5}" srcOrd="0" destOrd="0" presId="urn:microsoft.com/office/officeart/2005/8/layout/vList2"/>
    <dgm:cxn modelId="{562572E0-58EF-4C2E-85EA-5FE1C06E13D6}" srcId="{C1D26F15-304E-4481-9B76-09972B6FEC0B}" destId="{2F9F302B-8515-4F24-98AB-4C54776CD62F}" srcOrd="0" destOrd="0" parTransId="{6BF356DA-DF0B-4B0A-A85D-72AA48F621E9}" sibTransId="{FFDC65F2-1B52-4CAB-9C52-37D0CC6A1ADD}"/>
    <dgm:cxn modelId="{2161F2E3-1F7C-4AE9-A8F6-11AAC7E4E3C4}" type="presOf" srcId="{3F29A77B-B3C7-4D2E-BD60-F90111BFAEE4}" destId="{396C7E06-BDEB-4664-ADFC-87002F0C58B5}" srcOrd="0" destOrd="0" presId="urn:microsoft.com/office/officeart/2005/8/layout/vList2"/>
    <dgm:cxn modelId="{8BC184E5-9C0A-49A0-9EA9-EE615B9EEC84}" srcId="{7F563015-1540-4327-A2C9-08C1893DB83B}" destId="{1538EBA7-65B1-4401-9FC7-0882C9E3A82C}" srcOrd="0" destOrd="0" parTransId="{04371F30-D8D4-4667-ACC9-EE3C136A16AC}" sibTransId="{D67A53BE-2C1F-44FD-92C6-43D70AE333B1}"/>
    <dgm:cxn modelId="{941367EA-AA18-4536-A935-DB455281E758}" type="presOf" srcId="{7F563015-1540-4327-A2C9-08C1893DB83B}" destId="{E02D9E01-5B61-4E31-A80E-EC5110BF3A38}" srcOrd="0" destOrd="0" presId="urn:microsoft.com/office/officeart/2005/8/layout/vList2"/>
    <dgm:cxn modelId="{66DC14A8-1F47-49EC-97CF-EADD380B492B}" type="presParOf" srcId="{5AE39343-EA92-4660-9ECA-C366D2FB5BF5}" destId="{F879E610-B017-44CA-8F78-4CAA79A2754B}" srcOrd="0" destOrd="0" presId="urn:microsoft.com/office/officeart/2005/8/layout/vList2"/>
    <dgm:cxn modelId="{882F50F8-564A-4BC5-BE60-56312667A08C}" type="presParOf" srcId="{5AE39343-EA92-4660-9ECA-C366D2FB5BF5}" destId="{396C7E06-BDEB-4664-ADFC-87002F0C58B5}" srcOrd="1" destOrd="0" presId="urn:microsoft.com/office/officeart/2005/8/layout/vList2"/>
    <dgm:cxn modelId="{6736F5DA-1E15-4F82-B844-3631DECF51AE}" type="presParOf" srcId="{5AE39343-EA92-4660-9ECA-C366D2FB5BF5}" destId="{E02D9E01-5B61-4E31-A80E-EC5110BF3A38}" srcOrd="2" destOrd="0" presId="urn:microsoft.com/office/officeart/2005/8/layout/vList2"/>
    <dgm:cxn modelId="{D6FF7645-0342-4C20-ADAF-A0972F7FCE38}" type="presParOf" srcId="{5AE39343-EA92-4660-9ECA-C366D2FB5BF5}" destId="{391F6836-DDA2-46AF-97BA-CBE5F9BC7288}"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7E4815-EECB-4B68-8AE5-0A5C31E689B0}">
      <dsp:nvSpPr>
        <dsp:cNvPr id="0" name=""/>
        <dsp:cNvSpPr/>
      </dsp:nvSpPr>
      <dsp:spPr>
        <a:xfrm>
          <a:off x="0" y="4657"/>
          <a:ext cx="12021104" cy="13162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pt-BR" sz="2500" kern="1200" dirty="0"/>
            <a:t>Todos os componentes do núcleo operam em modo núcleo e se inter-relacionam conforme suas necessidades, sem restrições de acesso entre si, pois o código no nível núcleo tem acesso pleno a todos os recursos e áreas de memória. </a:t>
          </a:r>
        </a:p>
      </dsp:txBody>
      <dsp:txXfrm>
        <a:off x="64254" y="68911"/>
        <a:ext cx="11892596" cy="11877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2BDD0B-7D39-44EA-B3C1-384CB98E68E0}">
      <dsp:nvSpPr>
        <dsp:cNvPr id="0" name=""/>
        <dsp:cNvSpPr/>
      </dsp:nvSpPr>
      <dsp:spPr>
        <a:xfrm>
          <a:off x="6010552" y="1060698"/>
          <a:ext cx="3289258" cy="1141726"/>
        </a:xfrm>
        <a:custGeom>
          <a:avLst/>
          <a:gdLst/>
          <a:ahLst/>
          <a:cxnLst/>
          <a:rect l="0" t="0" r="0" b="0"/>
          <a:pathLst>
            <a:path>
              <a:moveTo>
                <a:pt x="0" y="0"/>
              </a:moveTo>
              <a:lnTo>
                <a:pt x="0" y="570863"/>
              </a:lnTo>
              <a:lnTo>
                <a:pt x="3289258" y="570863"/>
              </a:lnTo>
              <a:lnTo>
                <a:pt x="3289258" y="1141726"/>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905384-0636-47D4-93B2-172572EAD02C}">
      <dsp:nvSpPr>
        <dsp:cNvPr id="0" name=""/>
        <dsp:cNvSpPr/>
      </dsp:nvSpPr>
      <dsp:spPr>
        <a:xfrm>
          <a:off x="2721293" y="1060698"/>
          <a:ext cx="3289258" cy="1141726"/>
        </a:xfrm>
        <a:custGeom>
          <a:avLst/>
          <a:gdLst/>
          <a:ahLst/>
          <a:cxnLst/>
          <a:rect l="0" t="0" r="0" b="0"/>
          <a:pathLst>
            <a:path>
              <a:moveTo>
                <a:pt x="3289258" y="0"/>
              </a:moveTo>
              <a:lnTo>
                <a:pt x="3289258" y="570863"/>
              </a:lnTo>
              <a:lnTo>
                <a:pt x="0" y="570863"/>
              </a:lnTo>
              <a:lnTo>
                <a:pt x="0" y="1141726"/>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73FA39-DB84-46C2-A9F1-66BDA722442E}">
      <dsp:nvSpPr>
        <dsp:cNvPr id="0" name=""/>
        <dsp:cNvSpPr/>
      </dsp:nvSpPr>
      <dsp:spPr>
        <a:xfrm>
          <a:off x="2237419" y="410132"/>
          <a:ext cx="7546265" cy="650566"/>
        </a:xfrm>
        <a:prstGeom prst="rect">
          <a:avLst/>
        </a:prstGeom>
        <a:solidFill>
          <a:schemeClr val="bg1"/>
        </a:solidFill>
        <a:ln w="19050" cap="flat" cmpd="sng" algn="ctr">
          <a:solidFill>
            <a:srgbClr val="00005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pt-BR" sz="2600" b="1" kern="1200" dirty="0">
              <a:solidFill>
                <a:srgbClr val="000050"/>
              </a:solidFill>
            </a:rPr>
            <a:t>Inconvenientes que limitam sua aceitação:</a:t>
          </a:r>
        </a:p>
      </dsp:txBody>
      <dsp:txXfrm>
        <a:off x="2237419" y="410132"/>
        <a:ext cx="7546265" cy="650566"/>
      </dsp:txXfrm>
    </dsp:sp>
    <dsp:sp modelId="{21176B86-983F-4839-B4AD-595FCA3EEE35}">
      <dsp:nvSpPr>
        <dsp:cNvPr id="0" name=""/>
        <dsp:cNvSpPr/>
      </dsp:nvSpPr>
      <dsp:spPr>
        <a:xfrm>
          <a:off x="2898" y="2202424"/>
          <a:ext cx="5436790" cy="271839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pt-BR" sz="2600" b="1" u="sng" kern="1200" dirty="0"/>
            <a:t>O empilhamento de várias camadas </a:t>
          </a:r>
          <a:r>
            <a:rPr lang="pt-BR" sz="2600" kern="1200" dirty="0"/>
            <a:t>de software faz com que cada pedido de uma aplicação demore mais tempo para chegar até o dispositivo periférico ou recurso a ser acessado, </a:t>
          </a:r>
          <a:r>
            <a:rPr lang="pt-BR" sz="2600" b="1" kern="1200" dirty="0">
              <a:solidFill>
                <a:schemeClr val="bg1"/>
              </a:solidFill>
            </a:rPr>
            <a:t>prejudicando o</a:t>
          </a:r>
          <a:r>
            <a:rPr lang="pt-BR" sz="2600" kern="1200" dirty="0">
              <a:solidFill>
                <a:schemeClr val="bg1"/>
              </a:solidFill>
            </a:rPr>
            <a:t> </a:t>
          </a:r>
          <a:r>
            <a:rPr lang="pt-BR" sz="2600" b="1" kern="1200" dirty="0">
              <a:solidFill>
                <a:schemeClr val="bg1"/>
              </a:solidFill>
            </a:rPr>
            <a:t>desempenho do sistema. </a:t>
          </a:r>
        </a:p>
      </dsp:txBody>
      <dsp:txXfrm>
        <a:off x="2898" y="2202424"/>
        <a:ext cx="5436790" cy="2718395"/>
      </dsp:txXfrm>
    </dsp:sp>
    <dsp:sp modelId="{75D86A03-3167-430A-B0DF-50AB506C6A28}">
      <dsp:nvSpPr>
        <dsp:cNvPr id="0" name=""/>
        <dsp:cNvSpPr/>
      </dsp:nvSpPr>
      <dsp:spPr>
        <a:xfrm>
          <a:off x="6581415" y="2202424"/>
          <a:ext cx="5436790" cy="271839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pt-BR" sz="2600" kern="1200" dirty="0"/>
            <a:t>Não é óbvio como dividir as funcionalidades de um núcleo de sistema operacional em camadas horizontais de abstração crescente, pois essas funcionalidades são interdependentes, embora tratem muitas vezes de recursos distintos. </a:t>
          </a:r>
        </a:p>
      </dsp:txBody>
      <dsp:txXfrm>
        <a:off x="6581415" y="2202424"/>
        <a:ext cx="5436790" cy="27183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39129E-3C4D-44EB-8A5D-F8A334356A0D}">
      <dsp:nvSpPr>
        <dsp:cNvPr id="0" name=""/>
        <dsp:cNvSpPr/>
      </dsp:nvSpPr>
      <dsp:spPr>
        <a:xfrm>
          <a:off x="0" y="12387"/>
          <a:ext cx="12021112" cy="2035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pt-BR" sz="3000" kern="1200" dirty="0"/>
            <a:t>Consiste em retirar do núcleo todo o código de alto nível, deixando no núcleo somente o código de baixo nível necessário para interagir com o hardware e criar as abstrações fundamentais (como a noção de atividade). </a:t>
          </a:r>
        </a:p>
      </dsp:txBody>
      <dsp:txXfrm>
        <a:off x="99380" y="111767"/>
        <a:ext cx="11822352" cy="18370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05E931-D7F5-4BD8-97AB-F88FF8540631}">
      <dsp:nvSpPr>
        <dsp:cNvPr id="0" name=""/>
        <dsp:cNvSpPr/>
      </dsp:nvSpPr>
      <dsp:spPr>
        <a:xfrm>
          <a:off x="0" y="28115"/>
          <a:ext cx="12021112" cy="6624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pt-BR" sz="2300" kern="1200"/>
            <a:t>Ex:</a:t>
          </a:r>
        </a:p>
      </dsp:txBody>
      <dsp:txXfrm>
        <a:off x="0" y="28115"/>
        <a:ext cx="12021112" cy="662400"/>
      </dsp:txXfrm>
    </dsp:sp>
    <dsp:sp modelId="{B0E163B7-CFE8-48A3-A176-C9A56C5C5028}">
      <dsp:nvSpPr>
        <dsp:cNvPr id="0" name=""/>
        <dsp:cNvSpPr/>
      </dsp:nvSpPr>
      <dsp:spPr>
        <a:xfrm>
          <a:off x="0" y="690515"/>
          <a:ext cx="12021112" cy="154680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pt-BR" sz="2300" kern="1200"/>
            <a:t>Usando essa abordagem o código de acesso aos blocos de um disco rígido seria mantido no núcleo, enquanto as abstrações de arquivo e diretório seriam criadas e mantidas por um código fora do núcleo, executando da mesma forma que uma aplicação do usuário.</a:t>
          </a:r>
        </a:p>
      </dsp:txBody>
      <dsp:txXfrm>
        <a:off x="0" y="690515"/>
        <a:ext cx="12021112" cy="15468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79E610-B017-44CA-8F78-4CAA79A2754B}">
      <dsp:nvSpPr>
        <dsp:cNvPr id="0" name=""/>
        <dsp:cNvSpPr/>
      </dsp:nvSpPr>
      <dsp:spPr>
        <a:xfrm>
          <a:off x="0" y="67122"/>
          <a:ext cx="12021104" cy="9126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pt-BR" sz="3900" kern="1200"/>
            <a:t>Robustez:</a:t>
          </a:r>
        </a:p>
      </dsp:txBody>
      <dsp:txXfrm>
        <a:off x="44549" y="111671"/>
        <a:ext cx="11932006" cy="823502"/>
      </dsp:txXfrm>
    </dsp:sp>
    <dsp:sp modelId="{396C7E06-BDEB-4664-ADFC-87002F0C58B5}">
      <dsp:nvSpPr>
        <dsp:cNvPr id="0" name=""/>
        <dsp:cNvSpPr/>
      </dsp:nvSpPr>
      <dsp:spPr>
        <a:xfrm>
          <a:off x="0" y="979722"/>
          <a:ext cx="12021104" cy="1291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670" tIns="49530" rIns="277368" bIns="49530" numCol="1" spcCol="1270" anchor="t" anchorCtr="0">
          <a:noAutofit/>
        </a:bodyPr>
        <a:lstStyle/>
        <a:p>
          <a:pPr marL="285750" lvl="1" indent="-285750" algn="l" defTabSz="1333500">
            <a:lnSpc>
              <a:spcPct val="90000"/>
            </a:lnSpc>
            <a:spcBef>
              <a:spcPct val="0"/>
            </a:spcBef>
            <a:spcAft>
              <a:spcPct val="20000"/>
            </a:spcAft>
            <a:buChar char="•"/>
          </a:pPr>
          <a:r>
            <a:rPr lang="pt-BR" sz="3000" kern="1200"/>
            <a:t>Caso um sub-sistema tenha problemas, os mecanismos de proteção de memória e níveis de privilégio irão confiná-lo, impedindo que a instabilidade se alastre ao restante do sistema.</a:t>
          </a:r>
        </a:p>
      </dsp:txBody>
      <dsp:txXfrm>
        <a:off x="0" y="979722"/>
        <a:ext cx="12021104" cy="1291680"/>
      </dsp:txXfrm>
    </dsp:sp>
    <dsp:sp modelId="{E02D9E01-5B61-4E31-A80E-EC5110BF3A38}">
      <dsp:nvSpPr>
        <dsp:cNvPr id="0" name=""/>
        <dsp:cNvSpPr/>
      </dsp:nvSpPr>
      <dsp:spPr>
        <a:xfrm>
          <a:off x="0" y="2271402"/>
          <a:ext cx="12021104" cy="9126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pt-BR" sz="3900" kern="1200"/>
            <a:t>Flexibilidade:</a:t>
          </a:r>
        </a:p>
      </dsp:txBody>
      <dsp:txXfrm>
        <a:off x="44549" y="2315951"/>
        <a:ext cx="11932006" cy="823502"/>
      </dsp:txXfrm>
    </dsp:sp>
    <dsp:sp modelId="{391F6836-DDA2-46AF-97BA-CBE5F9BC7288}">
      <dsp:nvSpPr>
        <dsp:cNvPr id="0" name=""/>
        <dsp:cNvSpPr/>
      </dsp:nvSpPr>
      <dsp:spPr>
        <a:xfrm>
          <a:off x="0" y="3184002"/>
          <a:ext cx="12021104" cy="1291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670" tIns="49530" rIns="277368" bIns="49530" numCol="1" spcCol="1270" anchor="t" anchorCtr="0">
          <a:noAutofit/>
        </a:bodyPr>
        <a:lstStyle/>
        <a:p>
          <a:pPr marL="285750" lvl="1" indent="-285750" algn="l" defTabSz="1333500">
            <a:lnSpc>
              <a:spcPct val="90000"/>
            </a:lnSpc>
            <a:spcBef>
              <a:spcPct val="0"/>
            </a:spcBef>
            <a:spcAft>
              <a:spcPct val="20000"/>
            </a:spcAft>
            <a:buChar char="•"/>
          </a:pPr>
          <a:r>
            <a:rPr lang="pt-BR" sz="3000" kern="1200"/>
            <a:t>É possível customizar o sistema operacional, iniciando somente os componentes necessários ou escolhendo os componentes mais adequados às aplicações que serão executadas.</a:t>
          </a:r>
        </a:p>
      </dsp:txBody>
      <dsp:txXfrm>
        <a:off x="0" y="3184002"/>
        <a:ext cx="12021104" cy="12916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A5385E-924A-4842-A1EC-DBEE8900C94D}" type="datetimeFigureOut">
              <a:rPr lang="pt-BR" smtClean="0"/>
              <a:t>17/10/2025</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FBDD5B-DDCB-4F76-A3C6-7489BDBAAFA7}" type="slidenum">
              <a:rPr lang="pt-BR" smtClean="0"/>
              <a:t>‹nº›</a:t>
            </a:fld>
            <a:endParaRPr lang="pt-BR"/>
          </a:p>
        </p:txBody>
      </p:sp>
    </p:spTree>
    <p:extLst>
      <p:ext uri="{BB962C8B-B14F-4D97-AF65-F5344CB8AC3E}">
        <p14:creationId xmlns:p14="http://schemas.microsoft.com/office/powerpoint/2010/main" val="1450525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7BFBDD5B-DDCB-4F76-A3C6-7489BDBAAFA7}" type="slidenum">
              <a:rPr lang="pt-BR" smtClean="0"/>
              <a:t>3</a:t>
            </a:fld>
            <a:endParaRPr lang="pt-BR"/>
          </a:p>
        </p:txBody>
      </p:sp>
    </p:spTree>
    <p:extLst>
      <p:ext uri="{BB962C8B-B14F-4D97-AF65-F5344CB8AC3E}">
        <p14:creationId xmlns:p14="http://schemas.microsoft.com/office/powerpoint/2010/main" val="1612919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E2D78-AEEA-F841-4A65-4EDAA9C89A87}"/>
              </a:ext>
            </a:extLst>
          </p:cNvPr>
          <p:cNvSpPr>
            <a:spLocks noGrp="1"/>
          </p:cNvSpPr>
          <p:nvPr>
            <p:ph type="ctrTitle"/>
          </p:nvPr>
        </p:nvSpPr>
        <p:spPr>
          <a:xfrm>
            <a:off x="1524000" y="1148242"/>
            <a:ext cx="9144000" cy="2387600"/>
          </a:xfrm>
        </p:spPr>
        <p:txBody>
          <a:bodyPr anchor="b">
            <a:normAutofit/>
          </a:bodyPr>
          <a:lstStyle>
            <a:lvl1pPr algn="ctr">
              <a:defRPr sz="4400"/>
            </a:lvl1pPr>
          </a:lstStyle>
          <a:p>
            <a:r>
              <a:rPr lang="pt-BR"/>
              <a:t>Clique para editar o título Mestre</a:t>
            </a:r>
            <a:endParaRPr lang="pt-BR" dirty="0"/>
          </a:p>
        </p:txBody>
      </p:sp>
      <p:sp>
        <p:nvSpPr>
          <p:cNvPr id="3" name="Subtítulo 2">
            <a:extLst>
              <a:ext uri="{FF2B5EF4-FFF2-40B4-BE49-F238E27FC236}">
                <a16:creationId xmlns:a16="http://schemas.microsoft.com/office/drawing/2014/main" id="{BE513E1D-9585-6124-BFA1-F4709DAA5B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pt-BR" dirty="0"/>
          </a:p>
        </p:txBody>
      </p:sp>
      <p:sp>
        <p:nvSpPr>
          <p:cNvPr id="6" name="Espaço Reservado para Número de Slide 5">
            <a:extLst>
              <a:ext uri="{FF2B5EF4-FFF2-40B4-BE49-F238E27FC236}">
                <a16:creationId xmlns:a16="http://schemas.microsoft.com/office/drawing/2014/main" id="{91E0BD40-BB39-263F-89BC-4903405FF432}"/>
              </a:ext>
            </a:extLst>
          </p:cNvPr>
          <p:cNvSpPr>
            <a:spLocks noGrp="1"/>
          </p:cNvSpPr>
          <p:nvPr>
            <p:ph type="sldNum" sz="quarter" idx="12"/>
          </p:nvPr>
        </p:nvSpPr>
        <p:spPr>
          <a:xfrm>
            <a:off x="11112000" y="6606708"/>
            <a:ext cx="720000" cy="216000"/>
          </a:xfrm>
          <a:prstGeom prst="rect">
            <a:avLst/>
          </a:prstGeom>
          <a:noFill/>
          <a:ln>
            <a:noFill/>
          </a:ln>
        </p:spPr>
        <p:txBody>
          <a:bodyPr/>
          <a:lstStyle/>
          <a:p>
            <a:fld id="{889E4DDB-AB51-4EFC-ADEE-1042DB8CA710}" type="slidenum">
              <a:rPr lang="pt-BR" smtClean="0"/>
              <a:t>‹nº›</a:t>
            </a:fld>
            <a:endParaRPr lang="pt-BR" dirty="0"/>
          </a:p>
        </p:txBody>
      </p:sp>
    </p:spTree>
    <p:extLst>
      <p:ext uri="{BB962C8B-B14F-4D97-AF65-F5344CB8AC3E}">
        <p14:creationId xmlns:p14="http://schemas.microsoft.com/office/powerpoint/2010/main" val="3832630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8A6C6F-ABF6-6E72-BAD7-DD878C142CD5}"/>
              </a:ext>
            </a:extLst>
          </p:cNvPr>
          <p:cNvSpPr>
            <a:spLocks noGrp="1"/>
          </p:cNvSpPr>
          <p:nvPr>
            <p:ph type="title"/>
          </p:nvPr>
        </p:nvSpPr>
        <p:spPr/>
        <p:txBody>
          <a:bodyPr/>
          <a:lstStyle/>
          <a:p>
            <a:r>
              <a:rPr lang="pt-BR"/>
              <a:t>Clique para editar o título Mestre</a:t>
            </a:r>
            <a:endParaRPr lang="pt-BR" dirty="0"/>
          </a:p>
        </p:txBody>
      </p:sp>
      <p:sp>
        <p:nvSpPr>
          <p:cNvPr id="3" name="Espaço Reservado para Conteúdo 2">
            <a:extLst>
              <a:ext uri="{FF2B5EF4-FFF2-40B4-BE49-F238E27FC236}">
                <a16:creationId xmlns:a16="http://schemas.microsoft.com/office/drawing/2014/main" id="{C45D0E6C-839E-59DF-EBEC-6180655AB562}"/>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pt-BR" dirty="0"/>
          </a:p>
        </p:txBody>
      </p:sp>
      <p:sp>
        <p:nvSpPr>
          <p:cNvPr id="6" name="Espaço Reservado para Número de Slide 5">
            <a:extLst>
              <a:ext uri="{FF2B5EF4-FFF2-40B4-BE49-F238E27FC236}">
                <a16:creationId xmlns:a16="http://schemas.microsoft.com/office/drawing/2014/main" id="{F4E83817-70A6-E97D-FD03-1DB1579766FC}"/>
              </a:ext>
            </a:extLst>
          </p:cNvPr>
          <p:cNvSpPr>
            <a:spLocks noGrp="1"/>
          </p:cNvSpPr>
          <p:nvPr>
            <p:ph type="sldNum" sz="quarter" idx="12"/>
          </p:nvPr>
        </p:nvSpPr>
        <p:spPr>
          <a:xfrm>
            <a:off x="11112000" y="6607818"/>
            <a:ext cx="720000" cy="216000"/>
          </a:xfrm>
          <a:prstGeom prst="rect">
            <a:avLst/>
          </a:prstGeom>
          <a:noFill/>
          <a:ln>
            <a:noFill/>
          </a:ln>
        </p:spPr>
        <p:txBody>
          <a:bodyPr/>
          <a:lstStyle/>
          <a:p>
            <a:fld id="{889E4DDB-AB51-4EFC-ADEE-1042DB8CA710}" type="slidenum">
              <a:rPr lang="pt-BR" smtClean="0"/>
              <a:t>‹nº›</a:t>
            </a:fld>
            <a:endParaRPr lang="pt-BR"/>
          </a:p>
        </p:txBody>
      </p:sp>
    </p:spTree>
    <p:extLst>
      <p:ext uri="{BB962C8B-B14F-4D97-AF65-F5344CB8AC3E}">
        <p14:creationId xmlns:p14="http://schemas.microsoft.com/office/powerpoint/2010/main" val="3227794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A1DBF1-7CF2-DA84-54B6-437556D1A78B}"/>
              </a:ext>
            </a:extLst>
          </p:cNvPr>
          <p:cNvSpPr>
            <a:spLocks noGrp="1"/>
          </p:cNvSpPr>
          <p:nvPr>
            <p:ph type="title"/>
          </p:nvPr>
        </p:nvSpPr>
        <p:spPr>
          <a:xfrm>
            <a:off x="831850" y="1709738"/>
            <a:ext cx="10515600" cy="2852737"/>
          </a:xfrm>
        </p:spPr>
        <p:txBody>
          <a:bodyPr anchor="b">
            <a:normAutofit/>
          </a:bodyPr>
          <a:lstStyle>
            <a:lvl1pPr>
              <a:defRPr sz="5400"/>
            </a:lvl1pPr>
          </a:lstStyle>
          <a:p>
            <a:r>
              <a:rPr lang="pt-BR"/>
              <a:t>Clique para editar o título Mestre</a:t>
            </a:r>
            <a:endParaRPr lang="pt-BR" dirty="0"/>
          </a:p>
        </p:txBody>
      </p:sp>
      <p:sp>
        <p:nvSpPr>
          <p:cNvPr id="3" name="Espaço Reservado para Texto 2">
            <a:extLst>
              <a:ext uri="{FF2B5EF4-FFF2-40B4-BE49-F238E27FC236}">
                <a16:creationId xmlns:a16="http://schemas.microsoft.com/office/drawing/2014/main" id="{53CD8CBC-7446-B1BF-CF15-85D2D399B2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6" name="Espaço Reservado para Número de Slide 5">
            <a:extLst>
              <a:ext uri="{FF2B5EF4-FFF2-40B4-BE49-F238E27FC236}">
                <a16:creationId xmlns:a16="http://schemas.microsoft.com/office/drawing/2014/main" id="{1E5D98F0-9095-2DB4-FF96-9DB4CB8AF116}"/>
              </a:ext>
            </a:extLst>
          </p:cNvPr>
          <p:cNvSpPr>
            <a:spLocks noGrp="1"/>
          </p:cNvSpPr>
          <p:nvPr>
            <p:ph type="sldNum" sz="quarter" idx="12"/>
          </p:nvPr>
        </p:nvSpPr>
        <p:spPr>
          <a:xfrm>
            <a:off x="11112000" y="6607819"/>
            <a:ext cx="720000" cy="216000"/>
          </a:xfrm>
          <a:prstGeom prst="rect">
            <a:avLst/>
          </a:prstGeom>
        </p:spPr>
        <p:txBody>
          <a:bodyPr/>
          <a:lstStyle/>
          <a:p>
            <a:fld id="{889E4DDB-AB51-4EFC-ADEE-1042DB8CA710}" type="slidenum">
              <a:rPr lang="pt-BR" smtClean="0"/>
              <a:t>‹nº›</a:t>
            </a:fld>
            <a:endParaRPr lang="pt-BR"/>
          </a:p>
        </p:txBody>
      </p:sp>
    </p:spTree>
    <p:extLst>
      <p:ext uri="{BB962C8B-B14F-4D97-AF65-F5344CB8AC3E}">
        <p14:creationId xmlns:p14="http://schemas.microsoft.com/office/powerpoint/2010/main" val="1979524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8C668E-B1A2-B420-483D-040BD043C82C}"/>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3E813432-890B-2333-A371-5EDB5826576A}"/>
              </a:ext>
            </a:extLst>
          </p:cNvPr>
          <p:cNvSpPr>
            <a:spLocks noGrp="1"/>
          </p:cNvSpPr>
          <p:nvPr>
            <p:ph sz="half" idx="1"/>
          </p:nvPr>
        </p:nvSpPr>
        <p:spPr>
          <a:xfrm>
            <a:off x="85725" y="1825625"/>
            <a:ext cx="5934075" cy="4527550"/>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71FCD144-A58C-B627-B1F2-023A2915F3BC}"/>
              </a:ext>
            </a:extLst>
          </p:cNvPr>
          <p:cNvSpPr>
            <a:spLocks noGrp="1"/>
          </p:cNvSpPr>
          <p:nvPr>
            <p:ph sz="half" idx="2"/>
          </p:nvPr>
        </p:nvSpPr>
        <p:spPr>
          <a:xfrm>
            <a:off x="6172199" y="1825624"/>
            <a:ext cx="5934075" cy="4527549"/>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Número de Slide 6">
            <a:extLst>
              <a:ext uri="{FF2B5EF4-FFF2-40B4-BE49-F238E27FC236}">
                <a16:creationId xmlns:a16="http://schemas.microsoft.com/office/drawing/2014/main" id="{63C1B9A3-9078-7D64-D1E2-540DF7D8512D}"/>
              </a:ext>
            </a:extLst>
          </p:cNvPr>
          <p:cNvSpPr>
            <a:spLocks noGrp="1"/>
          </p:cNvSpPr>
          <p:nvPr>
            <p:ph type="sldNum" sz="quarter" idx="12"/>
          </p:nvPr>
        </p:nvSpPr>
        <p:spPr>
          <a:xfrm>
            <a:off x="11112000" y="6607818"/>
            <a:ext cx="720000" cy="216000"/>
          </a:xfrm>
          <a:prstGeom prst="rect">
            <a:avLst/>
          </a:prstGeom>
        </p:spPr>
        <p:txBody>
          <a:bodyPr/>
          <a:lstStyle/>
          <a:p>
            <a:fld id="{889E4DDB-AB51-4EFC-ADEE-1042DB8CA710}" type="slidenum">
              <a:rPr lang="pt-BR" smtClean="0"/>
              <a:t>‹nº›</a:t>
            </a:fld>
            <a:endParaRPr lang="pt-BR"/>
          </a:p>
        </p:txBody>
      </p:sp>
    </p:spTree>
    <p:extLst>
      <p:ext uri="{BB962C8B-B14F-4D97-AF65-F5344CB8AC3E}">
        <p14:creationId xmlns:p14="http://schemas.microsoft.com/office/powerpoint/2010/main" val="3544952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AAEC47-7E39-7AA2-AA26-D7083513A5AF}"/>
              </a:ext>
            </a:extLst>
          </p:cNvPr>
          <p:cNvSpPr>
            <a:spLocks noGrp="1"/>
          </p:cNvSpPr>
          <p:nvPr>
            <p:ph type="title"/>
          </p:nvPr>
        </p:nvSpPr>
        <p:spPr>
          <a:xfrm>
            <a:off x="1838325" y="222250"/>
            <a:ext cx="10245723" cy="1325563"/>
          </a:xfrm>
        </p:spPr>
        <p:txBody>
          <a:bodyPr/>
          <a:lstStyle/>
          <a:p>
            <a:r>
              <a:rPr lang="pt-BR"/>
              <a:t>Clique para editar o título Mestre</a:t>
            </a:r>
            <a:endParaRPr lang="pt-BR" dirty="0"/>
          </a:p>
        </p:txBody>
      </p:sp>
      <p:sp>
        <p:nvSpPr>
          <p:cNvPr id="3" name="Espaço Reservado para Texto 2">
            <a:extLst>
              <a:ext uri="{FF2B5EF4-FFF2-40B4-BE49-F238E27FC236}">
                <a16:creationId xmlns:a16="http://schemas.microsoft.com/office/drawing/2014/main" id="{96157571-D0C9-B774-2222-76B8BF94EA11}"/>
              </a:ext>
            </a:extLst>
          </p:cNvPr>
          <p:cNvSpPr>
            <a:spLocks noGrp="1"/>
          </p:cNvSpPr>
          <p:nvPr>
            <p:ph type="body" idx="1"/>
          </p:nvPr>
        </p:nvSpPr>
        <p:spPr>
          <a:xfrm>
            <a:off x="85726" y="1681163"/>
            <a:ext cx="5911850" cy="823912"/>
          </a:xfrm>
        </p:spPr>
        <p:txBody>
          <a:bodyPr anchor="b"/>
          <a:lstStyle>
            <a:lvl1pPr marL="0" indent="0">
              <a:buNone/>
              <a:defRPr sz="2400" b="1">
                <a:solidFill>
                  <a:srgbClr val="00005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6833C9FC-9345-A55E-D1CE-4116BF1C5247}"/>
              </a:ext>
            </a:extLst>
          </p:cNvPr>
          <p:cNvSpPr>
            <a:spLocks noGrp="1"/>
          </p:cNvSpPr>
          <p:nvPr>
            <p:ph sz="half" idx="2"/>
          </p:nvPr>
        </p:nvSpPr>
        <p:spPr>
          <a:xfrm>
            <a:off x="85726" y="2505075"/>
            <a:ext cx="5911850"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pt-BR" dirty="0"/>
          </a:p>
        </p:txBody>
      </p:sp>
      <p:sp>
        <p:nvSpPr>
          <p:cNvPr id="5" name="Espaço Reservado para Texto 4">
            <a:extLst>
              <a:ext uri="{FF2B5EF4-FFF2-40B4-BE49-F238E27FC236}">
                <a16:creationId xmlns:a16="http://schemas.microsoft.com/office/drawing/2014/main" id="{1DE9A5B9-F4A3-A477-1BE1-3668CF892D52}"/>
              </a:ext>
            </a:extLst>
          </p:cNvPr>
          <p:cNvSpPr>
            <a:spLocks noGrp="1"/>
          </p:cNvSpPr>
          <p:nvPr>
            <p:ph type="body" sz="quarter" idx="3"/>
          </p:nvPr>
        </p:nvSpPr>
        <p:spPr>
          <a:xfrm>
            <a:off x="6172199" y="1681163"/>
            <a:ext cx="5911849" cy="823912"/>
          </a:xfrm>
        </p:spPr>
        <p:txBody>
          <a:bodyPr anchor="b"/>
          <a:lstStyle>
            <a:lvl1pPr marL="0" indent="0">
              <a:buNone/>
              <a:defRPr sz="2400" b="1">
                <a:solidFill>
                  <a:srgbClr val="00005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AC48251B-A073-EDA1-F997-EF621BCC2D31}"/>
              </a:ext>
            </a:extLst>
          </p:cNvPr>
          <p:cNvSpPr>
            <a:spLocks noGrp="1"/>
          </p:cNvSpPr>
          <p:nvPr>
            <p:ph sz="quarter" idx="4"/>
          </p:nvPr>
        </p:nvSpPr>
        <p:spPr>
          <a:xfrm>
            <a:off x="6172199" y="2505075"/>
            <a:ext cx="5911849"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9" name="Espaço Reservado para Número de Slide 8">
            <a:extLst>
              <a:ext uri="{FF2B5EF4-FFF2-40B4-BE49-F238E27FC236}">
                <a16:creationId xmlns:a16="http://schemas.microsoft.com/office/drawing/2014/main" id="{CCA76E26-DE49-EE01-D55D-3B26186E0390}"/>
              </a:ext>
            </a:extLst>
          </p:cNvPr>
          <p:cNvSpPr>
            <a:spLocks noGrp="1"/>
          </p:cNvSpPr>
          <p:nvPr>
            <p:ph type="sldNum" sz="quarter" idx="12"/>
          </p:nvPr>
        </p:nvSpPr>
        <p:spPr>
          <a:xfrm>
            <a:off x="11112000" y="6607819"/>
            <a:ext cx="720000" cy="216000"/>
          </a:xfrm>
          <a:prstGeom prst="rect">
            <a:avLst/>
          </a:prstGeom>
        </p:spPr>
        <p:txBody>
          <a:bodyPr/>
          <a:lstStyle/>
          <a:p>
            <a:fld id="{889E4DDB-AB51-4EFC-ADEE-1042DB8CA710}" type="slidenum">
              <a:rPr lang="pt-BR" smtClean="0"/>
              <a:t>‹nº›</a:t>
            </a:fld>
            <a:endParaRPr lang="pt-BR"/>
          </a:p>
        </p:txBody>
      </p:sp>
    </p:spTree>
    <p:extLst>
      <p:ext uri="{BB962C8B-B14F-4D97-AF65-F5344CB8AC3E}">
        <p14:creationId xmlns:p14="http://schemas.microsoft.com/office/powerpoint/2010/main" val="2186480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8D9526-906F-B4E5-CFBD-8AB6077FA022}"/>
              </a:ext>
            </a:extLst>
          </p:cNvPr>
          <p:cNvSpPr>
            <a:spLocks noGrp="1"/>
          </p:cNvSpPr>
          <p:nvPr>
            <p:ph type="title"/>
          </p:nvPr>
        </p:nvSpPr>
        <p:spPr/>
        <p:txBody>
          <a:bodyPr/>
          <a:lstStyle/>
          <a:p>
            <a:r>
              <a:rPr lang="pt-BR"/>
              <a:t>Clique para editar o título Mestre</a:t>
            </a:r>
            <a:endParaRPr lang="pt-BR" dirty="0"/>
          </a:p>
        </p:txBody>
      </p:sp>
      <p:sp>
        <p:nvSpPr>
          <p:cNvPr id="5" name="Espaço Reservado para Número de Slide 4">
            <a:extLst>
              <a:ext uri="{FF2B5EF4-FFF2-40B4-BE49-F238E27FC236}">
                <a16:creationId xmlns:a16="http://schemas.microsoft.com/office/drawing/2014/main" id="{3ED586D7-711F-46FC-BA9C-B71F110A496B}"/>
              </a:ext>
            </a:extLst>
          </p:cNvPr>
          <p:cNvSpPr>
            <a:spLocks noGrp="1"/>
          </p:cNvSpPr>
          <p:nvPr>
            <p:ph type="sldNum" sz="quarter" idx="12"/>
          </p:nvPr>
        </p:nvSpPr>
        <p:spPr>
          <a:xfrm>
            <a:off x="11112000" y="6607819"/>
            <a:ext cx="720000" cy="216000"/>
          </a:xfrm>
          <a:prstGeom prst="rect">
            <a:avLst/>
          </a:prstGeom>
        </p:spPr>
        <p:txBody>
          <a:bodyPr/>
          <a:lstStyle/>
          <a:p>
            <a:fld id="{889E4DDB-AB51-4EFC-ADEE-1042DB8CA710}" type="slidenum">
              <a:rPr lang="pt-BR" smtClean="0"/>
              <a:t>‹nº›</a:t>
            </a:fld>
            <a:endParaRPr lang="pt-BR"/>
          </a:p>
        </p:txBody>
      </p:sp>
    </p:spTree>
    <p:extLst>
      <p:ext uri="{BB962C8B-B14F-4D97-AF65-F5344CB8AC3E}">
        <p14:creationId xmlns:p14="http://schemas.microsoft.com/office/powerpoint/2010/main" val="974465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4" name="Espaço Reservado para Número de Slide 3">
            <a:extLst>
              <a:ext uri="{FF2B5EF4-FFF2-40B4-BE49-F238E27FC236}">
                <a16:creationId xmlns:a16="http://schemas.microsoft.com/office/drawing/2014/main" id="{3A480150-2DAE-9AE3-9AD1-879D3D49199A}"/>
              </a:ext>
            </a:extLst>
          </p:cNvPr>
          <p:cNvSpPr>
            <a:spLocks noGrp="1"/>
          </p:cNvSpPr>
          <p:nvPr>
            <p:ph type="sldNum" sz="quarter" idx="12"/>
          </p:nvPr>
        </p:nvSpPr>
        <p:spPr>
          <a:xfrm>
            <a:off x="11111930" y="6607819"/>
            <a:ext cx="720000" cy="216000"/>
          </a:xfrm>
          <a:prstGeom prst="rect">
            <a:avLst/>
          </a:prstGeom>
        </p:spPr>
        <p:txBody>
          <a:bodyPr/>
          <a:lstStyle/>
          <a:p>
            <a:fld id="{889E4DDB-AB51-4EFC-ADEE-1042DB8CA710}" type="slidenum">
              <a:rPr lang="pt-BR" smtClean="0"/>
              <a:t>‹nº›</a:t>
            </a:fld>
            <a:endParaRPr lang="pt-BR" dirty="0"/>
          </a:p>
        </p:txBody>
      </p:sp>
    </p:spTree>
    <p:extLst>
      <p:ext uri="{BB962C8B-B14F-4D97-AF65-F5344CB8AC3E}">
        <p14:creationId xmlns:p14="http://schemas.microsoft.com/office/powerpoint/2010/main" val="3350101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750868-18E7-BCB0-0C69-4576807C61B3}"/>
              </a:ext>
            </a:extLst>
          </p:cNvPr>
          <p:cNvSpPr>
            <a:spLocks noGrp="1"/>
          </p:cNvSpPr>
          <p:nvPr>
            <p:ph type="title"/>
          </p:nvPr>
        </p:nvSpPr>
        <p:spPr>
          <a:xfrm>
            <a:off x="839788" y="987424"/>
            <a:ext cx="3932237" cy="1069975"/>
          </a:xfrm>
        </p:spPr>
        <p:txBody>
          <a:bodyPr anchor="b"/>
          <a:lstStyle>
            <a:lvl1pPr>
              <a:defRPr sz="3200"/>
            </a:lvl1pPr>
          </a:lstStyle>
          <a:p>
            <a:r>
              <a:rPr lang="pt-BR"/>
              <a:t>Clique para editar o título Mestre</a:t>
            </a:r>
            <a:endParaRPr lang="pt-BR" dirty="0"/>
          </a:p>
        </p:txBody>
      </p:sp>
      <p:sp>
        <p:nvSpPr>
          <p:cNvPr id="3" name="Espaço Reservado para Conteúdo 2">
            <a:extLst>
              <a:ext uri="{FF2B5EF4-FFF2-40B4-BE49-F238E27FC236}">
                <a16:creationId xmlns:a16="http://schemas.microsoft.com/office/drawing/2014/main" id="{779D1020-86C3-FFA7-1C14-EEE48A7579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36F62FD1-AA0A-F8AB-B2DC-8ECD4AB459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7" name="Espaço Reservado para Número de Slide 6">
            <a:extLst>
              <a:ext uri="{FF2B5EF4-FFF2-40B4-BE49-F238E27FC236}">
                <a16:creationId xmlns:a16="http://schemas.microsoft.com/office/drawing/2014/main" id="{980E960F-B73A-F8F6-60A5-38BE8AB74E23}"/>
              </a:ext>
            </a:extLst>
          </p:cNvPr>
          <p:cNvSpPr>
            <a:spLocks noGrp="1"/>
          </p:cNvSpPr>
          <p:nvPr>
            <p:ph type="sldNum" sz="quarter" idx="12"/>
          </p:nvPr>
        </p:nvSpPr>
        <p:spPr>
          <a:xfrm>
            <a:off x="11112000" y="6607820"/>
            <a:ext cx="720000" cy="216000"/>
          </a:xfrm>
          <a:prstGeom prst="rect">
            <a:avLst/>
          </a:prstGeom>
        </p:spPr>
        <p:txBody>
          <a:bodyPr/>
          <a:lstStyle/>
          <a:p>
            <a:fld id="{889E4DDB-AB51-4EFC-ADEE-1042DB8CA710}" type="slidenum">
              <a:rPr lang="pt-BR" smtClean="0"/>
              <a:t>‹nº›</a:t>
            </a:fld>
            <a:endParaRPr lang="pt-BR"/>
          </a:p>
        </p:txBody>
      </p:sp>
    </p:spTree>
    <p:extLst>
      <p:ext uri="{BB962C8B-B14F-4D97-AF65-F5344CB8AC3E}">
        <p14:creationId xmlns:p14="http://schemas.microsoft.com/office/powerpoint/2010/main" val="687823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82139E-29D9-4752-279D-8EAEE8058DA1}"/>
              </a:ext>
            </a:extLst>
          </p:cNvPr>
          <p:cNvSpPr>
            <a:spLocks noGrp="1"/>
          </p:cNvSpPr>
          <p:nvPr>
            <p:ph type="title"/>
          </p:nvPr>
        </p:nvSpPr>
        <p:spPr>
          <a:xfrm>
            <a:off x="839788" y="987424"/>
            <a:ext cx="3932237" cy="1069975"/>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009F44B9-ECB1-CE08-B0D9-0ADCB532F4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p>
        </p:txBody>
      </p:sp>
      <p:sp>
        <p:nvSpPr>
          <p:cNvPr id="4" name="Espaço Reservado para Texto 3">
            <a:extLst>
              <a:ext uri="{FF2B5EF4-FFF2-40B4-BE49-F238E27FC236}">
                <a16:creationId xmlns:a16="http://schemas.microsoft.com/office/drawing/2014/main" id="{C6EA9628-2039-1CF3-59B8-B282E8C937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7" name="Espaço Reservado para Número de Slide 6">
            <a:extLst>
              <a:ext uri="{FF2B5EF4-FFF2-40B4-BE49-F238E27FC236}">
                <a16:creationId xmlns:a16="http://schemas.microsoft.com/office/drawing/2014/main" id="{4873A112-56BC-E41A-7C29-184E2934BA0A}"/>
              </a:ext>
            </a:extLst>
          </p:cNvPr>
          <p:cNvSpPr>
            <a:spLocks noGrp="1"/>
          </p:cNvSpPr>
          <p:nvPr>
            <p:ph type="sldNum" sz="quarter" idx="12"/>
          </p:nvPr>
        </p:nvSpPr>
        <p:spPr>
          <a:xfrm>
            <a:off x="11112000" y="6607824"/>
            <a:ext cx="720000" cy="216000"/>
          </a:xfrm>
          <a:prstGeom prst="rect">
            <a:avLst/>
          </a:prstGeom>
        </p:spPr>
        <p:txBody>
          <a:bodyPr/>
          <a:lstStyle/>
          <a:p>
            <a:fld id="{889E4DDB-AB51-4EFC-ADEE-1042DB8CA710}" type="slidenum">
              <a:rPr lang="pt-BR" smtClean="0"/>
              <a:t>‹nº›</a:t>
            </a:fld>
            <a:endParaRPr lang="pt-BR"/>
          </a:p>
        </p:txBody>
      </p:sp>
    </p:spTree>
    <p:extLst>
      <p:ext uri="{BB962C8B-B14F-4D97-AF65-F5344CB8AC3E}">
        <p14:creationId xmlns:p14="http://schemas.microsoft.com/office/powerpoint/2010/main" val="1643996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C73FA1-CBEE-8E26-8B27-94135107D769}"/>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21E8C2BB-9660-46E1-78BE-3B785A2F3832}"/>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Número de Slide 5">
            <a:extLst>
              <a:ext uri="{FF2B5EF4-FFF2-40B4-BE49-F238E27FC236}">
                <a16:creationId xmlns:a16="http://schemas.microsoft.com/office/drawing/2014/main" id="{CB1100AC-2D53-197D-93C8-5DEECB967B55}"/>
              </a:ext>
            </a:extLst>
          </p:cNvPr>
          <p:cNvSpPr>
            <a:spLocks noGrp="1"/>
          </p:cNvSpPr>
          <p:nvPr>
            <p:ph type="sldNum" sz="quarter" idx="12"/>
          </p:nvPr>
        </p:nvSpPr>
        <p:spPr>
          <a:xfrm>
            <a:off x="11112000" y="6607821"/>
            <a:ext cx="720000" cy="216000"/>
          </a:xfrm>
          <a:prstGeom prst="rect">
            <a:avLst/>
          </a:prstGeom>
        </p:spPr>
        <p:txBody>
          <a:bodyPr/>
          <a:lstStyle/>
          <a:p>
            <a:fld id="{889E4DDB-AB51-4EFC-ADEE-1042DB8CA710}" type="slidenum">
              <a:rPr lang="pt-BR" smtClean="0"/>
              <a:t>‹nº›</a:t>
            </a:fld>
            <a:endParaRPr lang="pt-BR" dirty="0"/>
          </a:p>
        </p:txBody>
      </p:sp>
    </p:spTree>
    <p:extLst>
      <p:ext uri="{BB962C8B-B14F-4D97-AF65-F5344CB8AC3E}">
        <p14:creationId xmlns:p14="http://schemas.microsoft.com/office/powerpoint/2010/main" val="1816235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B7F57C0-F424-08C8-9E80-C870FD3E988C}"/>
              </a:ext>
            </a:extLst>
          </p:cNvPr>
          <p:cNvSpPr>
            <a:spLocks noGrp="1"/>
          </p:cNvSpPr>
          <p:nvPr>
            <p:ph type="title" orient="vert"/>
          </p:nvPr>
        </p:nvSpPr>
        <p:spPr>
          <a:xfrm>
            <a:off x="9458325" y="895349"/>
            <a:ext cx="2628900" cy="5281614"/>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DB547863-81CC-0E33-011E-E5000C5683B2}"/>
              </a:ext>
            </a:extLst>
          </p:cNvPr>
          <p:cNvSpPr>
            <a:spLocks noGrp="1"/>
          </p:cNvSpPr>
          <p:nvPr>
            <p:ph type="body" orient="vert" idx="1"/>
          </p:nvPr>
        </p:nvSpPr>
        <p:spPr>
          <a:xfrm>
            <a:off x="104775" y="895349"/>
            <a:ext cx="9201150" cy="5281613"/>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Número de Slide 5">
            <a:extLst>
              <a:ext uri="{FF2B5EF4-FFF2-40B4-BE49-F238E27FC236}">
                <a16:creationId xmlns:a16="http://schemas.microsoft.com/office/drawing/2014/main" id="{EA20EE3B-F5FB-49B5-3827-54D210BBEE49}"/>
              </a:ext>
            </a:extLst>
          </p:cNvPr>
          <p:cNvSpPr>
            <a:spLocks noGrp="1"/>
          </p:cNvSpPr>
          <p:nvPr>
            <p:ph type="sldNum" sz="quarter" idx="12"/>
          </p:nvPr>
        </p:nvSpPr>
        <p:spPr>
          <a:xfrm>
            <a:off x="11112000" y="6607823"/>
            <a:ext cx="720000" cy="216000"/>
          </a:xfrm>
          <a:prstGeom prst="rect">
            <a:avLst/>
          </a:prstGeom>
        </p:spPr>
        <p:txBody>
          <a:bodyPr/>
          <a:lstStyle/>
          <a:p>
            <a:fld id="{889E4DDB-AB51-4EFC-ADEE-1042DB8CA710}" type="slidenum">
              <a:rPr lang="pt-BR" smtClean="0"/>
              <a:t>‹nº›</a:t>
            </a:fld>
            <a:endParaRPr lang="pt-BR"/>
          </a:p>
        </p:txBody>
      </p:sp>
    </p:spTree>
    <p:extLst>
      <p:ext uri="{BB962C8B-B14F-4D97-AF65-F5344CB8AC3E}">
        <p14:creationId xmlns:p14="http://schemas.microsoft.com/office/powerpoint/2010/main" val="928828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8" name="Agrupar 37">
            <a:extLst>
              <a:ext uri="{FF2B5EF4-FFF2-40B4-BE49-F238E27FC236}">
                <a16:creationId xmlns:a16="http://schemas.microsoft.com/office/drawing/2014/main" id="{6877615D-1BD9-7477-A6E8-F28379AF2119}"/>
              </a:ext>
            </a:extLst>
          </p:cNvPr>
          <p:cNvGrpSpPr>
            <a:grpSpLocks/>
          </p:cNvGrpSpPr>
          <p:nvPr userDrawn="1"/>
        </p:nvGrpSpPr>
        <p:grpSpPr>
          <a:xfrm>
            <a:off x="0" y="6464800"/>
            <a:ext cx="12192000" cy="393200"/>
            <a:chOff x="0" y="6464800"/>
            <a:chExt cx="12192000" cy="393200"/>
          </a:xfrm>
        </p:grpSpPr>
        <p:sp>
          <p:nvSpPr>
            <p:cNvPr id="22" name="Retângulo 21">
              <a:extLst>
                <a:ext uri="{FF2B5EF4-FFF2-40B4-BE49-F238E27FC236}">
                  <a16:creationId xmlns:a16="http://schemas.microsoft.com/office/drawing/2014/main" id="{8CEE5E23-D60C-C861-BD63-C49137913510}"/>
                </a:ext>
              </a:extLst>
            </p:cNvPr>
            <p:cNvSpPr>
              <a:spLocks/>
            </p:cNvSpPr>
            <p:nvPr/>
          </p:nvSpPr>
          <p:spPr>
            <a:xfrm>
              <a:off x="0" y="6500466"/>
              <a:ext cx="12192000" cy="72000"/>
            </a:xfrm>
            <a:prstGeom prst="rect">
              <a:avLst/>
            </a:prstGeom>
            <a:solidFill>
              <a:srgbClr val="034C8C"/>
            </a:solidFill>
            <a:ln>
              <a:solidFill>
                <a:srgbClr val="034C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Retângulo 38">
              <a:extLst>
                <a:ext uri="{FF2B5EF4-FFF2-40B4-BE49-F238E27FC236}">
                  <a16:creationId xmlns:a16="http://schemas.microsoft.com/office/drawing/2014/main" id="{AF1A8198-0828-103D-119B-587D4D14FCF0}"/>
                </a:ext>
              </a:extLst>
            </p:cNvPr>
            <p:cNvSpPr>
              <a:spLocks/>
            </p:cNvSpPr>
            <p:nvPr/>
          </p:nvSpPr>
          <p:spPr>
            <a:xfrm>
              <a:off x="0" y="6464800"/>
              <a:ext cx="12192000" cy="36000"/>
            </a:xfrm>
            <a:prstGeom prst="rect">
              <a:avLst/>
            </a:prstGeom>
            <a:solidFill>
              <a:srgbClr val="0367A6"/>
            </a:solidFill>
            <a:ln>
              <a:solidFill>
                <a:srgbClr val="0367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Retângulo 20">
              <a:extLst>
                <a:ext uri="{FF2B5EF4-FFF2-40B4-BE49-F238E27FC236}">
                  <a16:creationId xmlns:a16="http://schemas.microsoft.com/office/drawing/2014/main" id="{2706E192-614F-E362-69D8-9A287C737D48}"/>
                </a:ext>
              </a:extLst>
            </p:cNvPr>
            <p:cNvSpPr>
              <a:spLocks/>
            </p:cNvSpPr>
            <p:nvPr/>
          </p:nvSpPr>
          <p:spPr>
            <a:xfrm>
              <a:off x="0" y="6572466"/>
              <a:ext cx="12192000" cy="285534"/>
            </a:xfrm>
            <a:prstGeom prst="rect">
              <a:avLst/>
            </a:prstGeom>
            <a:solidFill>
              <a:srgbClr val="000050"/>
            </a:solidFill>
            <a:ln>
              <a:solidFill>
                <a:srgbClr val="000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ln>
                  <a:noFill/>
                </a:ln>
              </a:endParaRPr>
            </a:p>
          </p:txBody>
        </p:sp>
      </p:grpSp>
      <p:sp>
        <p:nvSpPr>
          <p:cNvPr id="2" name="Espaço Reservado para Título 1">
            <a:extLst>
              <a:ext uri="{FF2B5EF4-FFF2-40B4-BE49-F238E27FC236}">
                <a16:creationId xmlns:a16="http://schemas.microsoft.com/office/drawing/2014/main" id="{403CA0C3-7EE4-F78E-689B-A775E102F3FD}"/>
              </a:ext>
            </a:extLst>
          </p:cNvPr>
          <p:cNvSpPr>
            <a:spLocks noGrp="1"/>
          </p:cNvSpPr>
          <p:nvPr>
            <p:ph type="title"/>
          </p:nvPr>
        </p:nvSpPr>
        <p:spPr>
          <a:xfrm>
            <a:off x="1847851" y="214325"/>
            <a:ext cx="10258424" cy="1325563"/>
          </a:xfrm>
          <a:prstGeom prst="rect">
            <a:avLst/>
          </a:prstGeom>
        </p:spPr>
        <p:txBody>
          <a:bodyPr vert="horz" lIns="91440" tIns="45720" rIns="91440" bIns="45720" rtlCol="0" anchor="ctr">
            <a:normAutofit/>
          </a:bodyPr>
          <a:lstStyle/>
          <a:p>
            <a:r>
              <a:rPr lang="pt-BR" dirty="0"/>
              <a:t>CLIQUE PARA EDITAR O TÍTULO MESTRE</a:t>
            </a:r>
          </a:p>
        </p:txBody>
      </p:sp>
      <p:sp>
        <p:nvSpPr>
          <p:cNvPr id="3" name="Espaço Reservado para Texto 2">
            <a:extLst>
              <a:ext uri="{FF2B5EF4-FFF2-40B4-BE49-F238E27FC236}">
                <a16:creationId xmlns:a16="http://schemas.microsoft.com/office/drawing/2014/main" id="{FFEA8DDD-329A-BAF3-A51B-EA7C36F06D61}"/>
              </a:ext>
            </a:extLst>
          </p:cNvPr>
          <p:cNvSpPr>
            <a:spLocks noGrp="1"/>
          </p:cNvSpPr>
          <p:nvPr>
            <p:ph type="body" idx="1"/>
          </p:nvPr>
        </p:nvSpPr>
        <p:spPr>
          <a:xfrm>
            <a:off x="85163" y="1825624"/>
            <a:ext cx="12021104" cy="4542805"/>
          </a:xfrm>
          <a:prstGeom prst="rect">
            <a:avLst/>
          </a:prstGeom>
        </p:spPr>
        <p:txBody>
          <a:bodyPr vert="horz" lIns="91440" tIns="45720" rIns="91440" bIns="45720" rtlCol="0">
            <a:normAutofit/>
          </a:bodyPr>
          <a:lstStyle/>
          <a:p>
            <a:pPr lvl="0"/>
            <a:r>
              <a:rPr lang="pt-BR" dirty="0"/>
              <a:t>Clique para editar os estilos de texto Mestres</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6" name="Espaço Reservado para Número de Slide 5">
            <a:extLst>
              <a:ext uri="{FF2B5EF4-FFF2-40B4-BE49-F238E27FC236}">
                <a16:creationId xmlns:a16="http://schemas.microsoft.com/office/drawing/2014/main" id="{29F88ABF-BFBA-DE2D-796C-ED888891632D}"/>
              </a:ext>
            </a:extLst>
          </p:cNvPr>
          <p:cNvSpPr>
            <a:spLocks noGrp="1"/>
          </p:cNvSpPr>
          <p:nvPr>
            <p:ph type="sldNum" sz="quarter" idx="4"/>
          </p:nvPr>
        </p:nvSpPr>
        <p:spPr>
          <a:xfrm>
            <a:off x="11112000" y="6607963"/>
            <a:ext cx="720000" cy="216000"/>
          </a:xfrm>
          <a:prstGeom prst="rect">
            <a:avLst/>
          </a:prstGeom>
          <a:noFill/>
          <a:ln>
            <a:noFill/>
          </a:ln>
        </p:spPr>
        <p:txBody>
          <a:bodyPr vert="horz" lIns="91440" tIns="45720" rIns="91440" bIns="45720" rtlCol="0" anchor="ctr"/>
          <a:lstStyle>
            <a:lvl1pPr algn="ctr">
              <a:defRPr sz="1600" b="1">
                <a:solidFill>
                  <a:srgbClr val="F2A516"/>
                </a:solidFill>
              </a:defRPr>
            </a:lvl1pPr>
          </a:lstStyle>
          <a:p>
            <a:fld id="{889E4DDB-AB51-4EFC-ADEE-1042DB8CA710}" type="slidenum">
              <a:rPr lang="pt-BR" smtClean="0"/>
              <a:pPr/>
              <a:t>‹nº›</a:t>
            </a:fld>
            <a:endParaRPr lang="pt-BR" dirty="0"/>
          </a:p>
        </p:txBody>
      </p:sp>
      <p:sp>
        <p:nvSpPr>
          <p:cNvPr id="13" name="Retângulo 12">
            <a:extLst>
              <a:ext uri="{FF2B5EF4-FFF2-40B4-BE49-F238E27FC236}">
                <a16:creationId xmlns:a16="http://schemas.microsoft.com/office/drawing/2014/main" id="{9C764C35-037B-50A3-8E06-B279A9E7D816}"/>
              </a:ext>
            </a:extLst>
          </p:cNvPr>
          <p:cNvSpPr/>
          <p:nvPr/>
        </p:nvSpPr>
        <p:spPr>
          <a:xfrm>
            <a:off x="841828" y="-446314"/>
            <a:ext cx="377372" cy="377372"/>
          </a:xfrm>
          <a:prstGeom prst="rect">
            <a:avLst/>
          </a:prstGeom>
          <a:solidFill>
            <a:srgbClr val="0367A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3780368F-A64C-7078-DE3D-15C23224DC43}"/>
              </a:ext>
            </a:extLst>
          </p:cNvPr>
          <p:cNvSpPr/>
          <p:nvPr/>
        </p:nvSpPr>
        <p:spPr>
          <a:xfrm>
            <a:off x="420914" y="-446314"/>
            <a:ext cx="377372" cy="377372"/>
          </a:xfrm>
          <a:prstGeom prst="rect">
            <a:avLst/>
          </a:prstGeom>
          <a:solidFill>
            <a:srgbClr val="034C8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Retângulo 14">
            <a:extLst>
              <a:ext uri="{FF2B5EF4-FFF2-40B4-BE49-F238E27FC236}">
                <a16:creationId xmlns:a16="http://schemas.microsoft.com/office/drawing/2014/main" id="{6A2BD6B7-F4F8-2058-21F2-50821CCA7419}"/>
              </a:ext>
            </a:extLst>
          </p:cNvPr>
          <p:cNvSpPr/>
          <p:nvPr/>
        </p:nvSpPr>
        <p:spPr>
          <a:xfrm>
            <a:off x="0" y="-446314"/>
            <a:ext cx="377372" cy="377372"/>
          </a:xfrm>
          <a:prstGeom prst="rect">
            <a:avLst/>
          </a:prstGeom>
          <a:solidFill>
            <a:srgbClr val="033E8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15">
            <a:extLst>
              <a:ext uri="{FF2B5EF4-FFF2-40B4-BE49-F238E27FC236}">
                <a16:creationId xmlns:a16="http://schemas.microsoft.com/office/drawing/2014/main" id="{54739155-54B0-DBB0-2A0F-CD60AD5AE1BE}"/>
              </a:ext>
            </a:extLst>
          </p:cNvPr>
          <p:cNvSpPr/>
          <p:nvPr/>
        </p:nvSpPr>
        <p:spPr>
          <a:xfrm>
            <a:off x="2104570" y="-446314"/>
            <a:ext cx="377372" cy="377372"/>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Retângulo 16">
            <a:extLst>
              <a:ext uri="{FF2B5EF4-FFF2-40B4-BE49-F238E27FC236}">
                <a16:creationId xmlns:a16="http://schemas.microsoft.com/office/drawing/2014/main" id="{4A32D5CD-40E1-6A62-1B2C-A195E96B3845}"/>
              </a:ext>
            </a:extLst>
          </p:cNvPr>
          <p:cNvSpPr/>
          <p:nvPr/>
        </p:nvSpPr>
        <p:spPr>
          <a:xfrm>
            <a:off x="1683656" y="-444840"/>
            <a:ext cx="377372" cy="377372"/>
          </a:xfrm>
          <a:prstGeom prst="rect">
            <a:avLst/>
          </a:prstGeom>
          <a:solidFill>
            <a:srgbClr val="F2A51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17">
            <a:extLst>
              <a:ext uri="{FF2B5EF4-FFF2-40B4-BE49-F238E27FC236}">
                <a16:creationId xmlns:a16="http://schemas.microsoft.com/office/drawing/2014/main" id="{15ED0829-C82A-8DB8-948B-798555281D0A}"/>
              </a:ext>
            </a:extLst>
          </p:cNvPr>
          <p:cNvSpPr/>
          <p:nvPr/>
        </p:nvSpPr>
        <p:spPr>
          <a:xfrm>
            <a:off x="1262742" y="-444840"/>
            <a:ext cx="377372" cy="377372"/>
          </a:xfrm>
          <a:prstGeom prst="rect">
            <a:avLst/>
          </a:prstGeom>
          <a:solidFill>
            <a:srgbClr val="F2BF2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2" name="Imagem 11" descr="Texto&#10;&#10;Descrição gerada automaticamente com confiança baixa">
            <a:extLst>
              <a:ext uri="{FF2B5EF4-FFF2-40B4-BE49-F238E27FC236}">
                <a16:creationId xmlns:a16="http://schemas.microsoft.com/office/drawing/2014/main" id="{E354481A-AB76-F107-8606-E5048F3EFB03}"/>
              </a:ext>
            </a:extLst>
          </p:cNvPr>
          <p:cNvPicPr>
            <a:picLocks noChangeAspect="1"/>
          </p:cNvPicPr>
          <p:nvPr/>
        </p:nvPicPr>
        <p:blipFill rotWithShape="1">
          <a:blip r:embed="rId13">
            <a:extLst>
              <a:ext uri="{28A0092B-C50C-407E-A947-70E740481C1C}">
                <a14:useLocalDpi xmlns:a14="http://schemas.microsoft.com/office/drawing/2010/main" val="0"/>
              </a:ext>
            </a:extLst>
          </a:blip>
          <a:srcRect l="11762" t="1853" r="64727" b="42836"/>
          <a:stretch/>
        </p:blipFill>
        <p:spPr>
          <a:xfrm>
            <a:off x="40673" y="38179"/>
            <a:ext cx="1691480" cy="1686578"/>
          </a:xfrm>
          <a:prstGeom prst="rect">
            <a:avLst/>
          </a:prstGeom>
        </p:spPr>
      </p:pic>
      <p:sp>
        <p:nvSpPr>
          <p:cNvPr id="64" name="Retângulo 63">
            <a:extLst>
              <a:ext uri="{FF2B5EF4-FFF2-40B4-BE49-F238E27FC236}">
                <a16:creationId xmlns:a16="http://schemas.microsoft.com/office/drawing/2014/main" id="{F2B8579A-2ACD-9393-EC44-310E232D5163}"/>
              </a:ext>
            </a:extLst>
          </p:cNvPr>
          <p:cNvSpPr/>
          <p:nvPr userDrawn="1"/>
        </p:nvSpPr>
        <p:spPr>
          <a:xfrm>
            <a:off x="2525484" y="-448783"/>
            <a:ext cx="377372" cy="377372"/>
          </a:xfrm>
          <a:prstGeom prst="rect">
            <a:avLst/>
          </a:prstGeom>
          <a:solidFill>
            <a:srgbClr val="000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6096383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3600" b="1" kern="1200">
          <a:solidFill>
            <a:srgbClr val="000050"/>
          </a:solidFill>
          <a:latin typeface="Arial" panose="020B0604020202020204" pitchFamily="34" charset="0"/>
          <a:ea typeface="Yu Gothic UI Semilight" panose="020B0400000000000000" pitchFamily="34" charset="-128"/>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34C8C"/>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034C8C"/>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034C8C"/>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034C8C"/>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034C8C"/>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Layout" Target="../diagrams/layout1.xml"/><Relationship Id="rId7" Type="http://schemas.openxmlformats.org/officeDocument/2006/relationships/image" Target="../media/image9.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4.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7609DD-2A63-0746-B8E9-97635C74D8E4}"/>
              </a:ext>
            </a:extLst>
          </p:cNvPr>
          <p:cNvSpPr>
            <a:spLocks noGrp="1"/>
          </p:cNvSpPr>
          <p:nvPr>
            <p:ph type="ctrTitle"/>
          </p:nvPr>
        </p:nvSpPr>
        <p:spPr>
          <a:xfrm>
            <a:off x="1524000" y="1148242"/>
            <a:ext cx="9144000" cy="2387600"/>
          </a:xfrm>
        </p:spPr>
        <p:txBody>
          <a:bodyPr>
            <a:normAutofit/>
          </a:bodyPr>
          <a:lstStyle/>
          <a:p>
            <a:r>
              <a:rPr lang="pt-BR" dirty="0"/>
              <a:t>Disciplina: Linux.</a:t>
            </a:r>
          </a:p>
        </p:txBody>
      </p:sp>
      <p:sp>
        <p:nvSpPr>
          <p:cNvPr id="3" name="Subtítulo 2">
            <a:extLst>
              <a:ext uri="{FF2B5EF4-FFF2-40B4-BE49-F238E27FC236}">
                <a16:creationId xmlns:a16="http://schemas.microsoft.com/office/drawing/2014/main" id="{CA8E14FA-A364-F573-49C3-5D5F884449ED}"/>
              </a:ext>
            </a:extLst>
          </p:cNvPr>
          <p:cNvSpPr>
            <a:spLocks noGrp="1"/>
          </p:cNvSpPr>
          <p:nvPr>
            <p:ph type="subTitle" idx="1"/>
          </p:nvPr>
        </p:nvSpPr>
        <p:spPr>
          <a:xfrm>
            <a:off x="1524000" y="3602038"/>
            <a:ext cx="9144000" cy="1655762"/>
          </a:xfrm>
        </p:spPr>
        <p:txBody>
          <a:bodyPr/>
          <a:lstStyle/>
          <a:p>
            <a:r>
              <a:rPr lang="pt-BR" dirty="0"/>
              <a:t>Aula: Mono e Multiprogramação.</a:t>
            </a:r>
          </a:p>
        </p:txBody>
      </p:sp>
      <p:pic>
        <p:nvPicPr>
          <p:cNvPr id="5" name="Imagem 4">
            <a:extLst>
              <a:ext uri="{FF2B5EF4-FFF2-40B4-BE49-F238E27FC236}">
                <a16:creationId xmlns:a16="http://schemas.microsoft.com/office/drawing/2014/main" id="{1BABCCBC-74AE-75A8-C262-068D65C02082}"/>
              </a:ext>
            </a:extLst>
          </p:cNvPr>
          <p:cNvPicPr>
            <a:picLocks noChangeAspect="1"/>
          </p:cNvPicPr>
          <p:nvPr/>
        </p:nvPicPr>
        <p:blipFill>
          <a:blip r:embed="rId2"/>
          <a:stretch>
            <a:fillRect/>
          </a:stretch>
        </p:blipFill>
        <p:spPr>
          <a:xfrm>
            <a:off x="76081" y="4676655"/>
            <a:ext cx="1695687" cy="1714739"/>
          </a:xfrm>
          <a:prstGeom prst="rect">
            <a:avLst/>
          </a:prstGeom>
        </p:spPr>
      </p:pic>
    </p:spTree>
    <p:extLst>
      <p:ext uri="{BB962C8B-B14F-4D97-AF65-F5344CB8AC3E}">
        <p14:creationId xmlns:p14="http://schemas.microsoft.com/office/powerpoint/2010/main" val="2315813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D775AD-4ACD-EE59-E865-5BB0BAFA4403}"/>
              </a:ext>
            </a:extLst>
          </p:cNvPr>
          <p:cNvSpPr>
            <a:spLocks noGrp="1"/>
          </p:cNvSpPr>
          <p:nvPr>
            <p:ph type="title"/>
          </p:nvPr>
        </p:nvSpPr>
        <p:spPr>
          <a:xfrm>
            <a:off x="1838325" y="222250"/>
            <a:ext cx="10245723" cy="1325563"/>
          </a:xfrm>
        </p:spPr>
        <p:txBody>
          <a:bodyPr/>
          <a:lstStyle/>
          <a:p>
            <a:r>
              <a:rPr lang="pt-BR" dirty="0" err="1"/>
              <a:t>Monoprogramação</a:t>
            </a:r>
            <a:r>
              <a:rPr lang="pt-BR" dirty="0"/>
              <a:t> </a:t>
            </a:r>
            <a:r>
              <a:rPr lang="pt-BR" dirty="0" err="1"/>
              <a:t>vs</a:t>
            </a:r>
            <a:r>
              <a:rPr lang="pt-BR" dirty="0"/>
              <a:t> Multiprogramação</a:t>
            </a:r>
          </a:p>
        </p:txBody>
      </p:sp>
      <p:sp>
        <p:nvSpPr>
          <p:cNvPr id="12" name="Espaço Reservado para Texto 11">
            <a:extLst>
              <a:ext uri="{FF2B5EF4-FFF2-40B4-BE49-F238E27FC236}">
                <a16:creationId xmlns:a16="http://schemas.microsoft.com/office/drawing/2014/main" id="{E364EEBB-738A-20E2-51D6-B7BA7E0CB3C1}"/>
              </a:ext>
            </a:extLst>
          </p:cNvPr>
          <p:cNvSpPr>
            <a:spLocks noGrp="1"/>
          </p:cNvSpPr>
          <p:nvPr>
            <p:ph type="body" idx="1"/>
          </p:nvPr>
        </p:nvSpPr>
        <p:spPr>
          <a:xfrm>
            <a:off x="85726" y="1681163"/>
            <a:ext cx="5911850" cy="823912"/>
          </a:xfrm>
        </p:spPr>
        <p:txBody>
          <a:bodyPr>
            <a:normAutofit/>
          </a:bodyPr>
          <a:lstStyle/>
          <a:p>
            <a:r>
              <a:rPr lang="pt-BR" dirty="0"/>
              <a:t>Sistemas </a:t>
            </a:r>
            <a:r>
              <a:rPr lang="pt-BR" dirty="0" err="1"/>
              <a:t>monoprogramado</a:t>
            </a:r>
            <a:endParaRPr lang="pt-BR" dirty="0"/>
          </a:p>
        </p:txBody>
      </p:sp>
      <p:sp>
        <p:nvSpPr>
          <p:cNvPr id="13" name="Espaço Reservado para Conteúdo 12">
            <a:extLst>
              <a:ext uri="{FF2B5EF4-FFF2-40B4-BE49-F238E27FC236}">
                <a16:creationId xmlns:a16="http://schemas.microsoft.com/office/drawing/2014/main" id="{CC690755-1B68-1A40-72E1-1AC6E43FF603}"/>
              </a:ext>
            </a:extLst>
          </p:cNvPr>
          <p:cNvSpPr>
            <a:spLocks noGrp="1"/>
          </p:cNvSpPr>
          <p:nvPr>
            <p:ph sz="half" idx="2"/>
          </p:nvPr>
        </p:nvSpPr>
        <p:spPr>
          <a:xfrm>
            <a:off x="85726" y="2505075"/>
            <a:ext cx="5911850" cy="3684588"/>
          </a:xfrm>
        </p:spPr>
        <p:txBody>
          <a:bodyPr/>
          <a:lstStyle/>
          <a:p>
            <a:r>
              <a:rPr lang="pt-BR" dirty="0"/>
              <a:t>São os sistemas capazes de executar apenas um processo por vez.</a:t>
            </a:r>
          </a:p>
          <a:p>
            <a:pPr lvl="1"/>
            <a:r>
              <a:rPr lang="pt-BR" dirty="0"/>
              <a:t>Também são conhecidos como </a:t>
            </a:r>
            <a:r>
              <a:rPr lang="pt-BR" dirty="0" err="1"/>
              <a:t>monotarefa</a:t>
            </a:r>
            <a:r>
              <a:rPr lang="pt-BR" dirty="0"/>
              <a:t>.</a:t>
            </a:r>
          </a:p>
          <a:p>
            <a:pPr lvl="1"/>
            <a:r>
              <a:rPr lang="pt-BR" dirty="0" err="1"/>
              <a:t>Ex</a:t>
            </a:r>
            <a:r>
              <a:rPr lang="pt-BR" dirty="0"/>
              <a:t>:</a:t>
            </a:r>
          </a:p>
          <a:p>
            <a:pPr lvl="2"/>
            <a:r>
              <a:rPr lang="pt-BR" dirty="0"/>
              <a:t>PC-DOS de 1981.</a:t>
            </a:r>
          </a:p>
        </p:txBody>
      </p:sp>
      <p:sp>
        <p:nvSpPr>
          <p:cNvPr id="24" name="Espaço Reservado para Texto 23">
            <a:extLst>
              <a:ext uri="{FF2B5EF4-FFF2-40B4-BE49-F238E27FC236}">
                <a16:creationId xmlns:a16="http://schemas.microsoft.com/office/drawing/2014/main" id="{1B7F1E15-335B-7F3E-232F-F5DBF9394757}"/>
              </a:ext>
            </a:extLst>
          </p:cNvPr>
          <p:cNvSpPr>
            <a:spLocks noGrp="1"/>
          </p:cNvSpPr>
          <p:nvPr>
            <p:ph type="body" sz="quarter" idx="3"/>
          </p:nvPr>
        </p:nvSpPr>
        <p:spPr/>
        <p:txBody>
          <a:bodyPr/>
          <a:lstStyle/>
          <a:p>
            <a:endParaRPr lang="pt-BR"/>
          </a:p>
        </p:txBody>
      </p:sp>
      <p:sp>
        <p:nvSpPr>
          <p:cNvPr id="25" name="Espaço Reservado para Conteúdo 24">
            <a:extLst>
              <a:ext uri="{FF2B5EF4-FFF2-40B4-BE49-F238E27FC236}">
                <a16:creationId xmlns:a16="http://schemas.microsoft.com/office/drawing/2014/main" id="{79F2631C-2588-9362-9FBF-0E6AA80697FD}"/>
              </a:ext>
            </a:extLst>
          </p:cNvPr>
          <p:cNvSpPr>
            <a:spLocks noGrp="1"/>
          </p:cNvSpPr>
          <p:nvPr>
            <p:ph sz="quarter" idx="4"/>
          </p:nvPr>
        </p:nvSpPr>
        <p:spPr/>
        <p:txBody>
          <a:bodyPr/>
          <a:lstStyle/>
          <a:p>
            <a:endParaRPr lang="pt-BR"/>
          </a:p>
        </p:txBody>
      </p:sp>
      <p:sp>
        <p:nvSpPr>
          <p:cNvPr id="6" name="Espaço Reservado para Número de Slide 5">
            <a:extLst>
              <a:ext uri="{FF2B5EF4-FFF2-40B4-BE49-F238E27FC236}">
                <a16:creationId xmlns:a16="http://schemas.microsoft.com/office/drawing/2014/main" id="{6377BD1E-CB7F-F22A-3382-A96FB9B95A3F}"/>
              </a:ext>
            </a:extLst>
          </p:cNvPr>
          <p:cNvSpPr>
            <a:spLocks noGrp="1"/>
          </p:cNvSpPr>
          <p:nvPr>
            <p:ph type="sldNum" sz="quarter" idx="12"/>
          </p:nvPr>
        </p:nvSpPr>
        <p:spPr>
          <a:xfrm>
            <a:off x="11112000" y="6607819"/>
            <a:ext cx="720000" cy="216000"/>
          </a:xfrm>
        </p:spPr>
        <p:txBody>
          <a:bodyPr/>
          <a:lstStyle/>
          <a:p>
            <a:fld id="{889E4DDB-AB51-4EFC-ADEE-1042DB8CA710}" type="slidenum">
              <a:rPr lang="pt-BR" smtClean="0"/>
              <a:pPr/>
              <a:t>2</a:t>
            </a:fld>
            <a:endParaRPr lang="pt-BR"/>
          </a:p>
        </p:txBody>
      </p:sp>
      <p:pic>
        <p:nvPicPr>
          <p:cNvPr id="17" name="Imagem 16">
            <a:extLst>
              <a:ext uri="{FF2B5EF4-FFF2-40B4-BE49-F238E27FC236}">
                <a16:creationId xmlns:a16="http://schemas.microsoft.com/office/drawing/2014/main" id="{486E3E45-7E02-7CF9-CC16-3B14A048E01B}"/>
              </a:ext>
            </a:extLst>
          </p:cNvPr>
          <p:cNvPicPr>
            <a:picLocks noChangeAspect="1"/>
          </p:cNvPicPr>
          <p:nvPr/>
        </p:nvPicPr>
        <p:blipFill>
          <a:blip r:embed="rId2"/>
          <a:stretch>
            <a:fillRect/>
          </a:stretch>
        </p:blipFill>
        <p:spPr>
          <a:xfrm>
            <a:off x="1816631" y="4338504"/>
            <a:ext cx="1885868" cy="1851159"/>
          </a:xfrm>
          <a:prstGeom prst="rect">
            <a:avLst/>
          </a:prstGeom>
        </p:spPr>
      </p:pic>
    </p:spTree>
    <p:extLst>
      <p:ext uri="{BB962C8B-B14F-4D97-AF65-F5344CB8AC3E}">
        <p14:creationId xmlns:p14="http://schemas.microsoft.com/office/powerpoint/2010/main" val="1093914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3F4F863F-5C6B-89D7-69DD-D93D2370E9BF}"/>
              </a:ext>
            </a:extLst>
          </p:cNvPr>
          <p:cNvSpPr>
            <a:spLocks noGrp="1"/>
          </p:cNvSpPr>
          <p:nvPr>
            <p:ph type="title"/>
          </p:nvPr>
        </p:nvSpPr>
        <p:spPr>
          <a:xfrm>
            <a:off x="1838325" y="222250"/>
            <a:ext cx="10245723" cy="1325563"/>
          </a:xfrm>
        </p:spPr>
        <p:txBody>
          <a:bodyPr/>
          <a:lstStyle/>
          <a:p>
            <a:r>
              <a:rPr lang="pt-BR" dirty="0" err="1"/>
              <a:t>Monoprogramação</a:t>
            </a:r>
            <a:r>
              <a:rPr lang="pt-BR" dirty="0"/>
              <a:t> </a:t>
            </a:r>
            <a:r>
              <a:rPr lang="pt-BR" dirty="0" err="1"/>
              <a:t>vs</a:t>
            </a:r>
            <a:r>
              <a:rPr lang="pt-BR" dirty="0"/>
              <a:t> Multiprogramação</a:t>
            </a:r>
          </a:p>
        </p:txBody>
      </p:sp>
      <p:sp>
        <p:nvSpPr>
          <p:cNvPr id="8" name="Espaço Reservado para Texto 7">
            <a:extLst>
              <a:ext uri="{FF2B5EF4-FFF2-40B4-BE49-F238E27FC236}">
                <a16:creationId xmlns:a16="http://schemas.microsoft.com/office/drawing/2014/main" id="{E058CA72-0E5B-C57B-BB45-ABD0F31E007F}"/>
              </a:ext>
            </a:extLst>
          </p:cNvPr>
          <p:cNvSpPr>
            <a:spLocks noGrp="1"/>
          </p:cNvSpPr>
          <p:nvPr>
            <p:ph type="body" idx="1"/>
          </p:nvPr>
        </p:nvSpPr>
        <p:spPr>
          <a:xfrm>
            <a:off x="85726" y="1681163"/>
            <a:ext cx="5911850" cy="823912"/>
          </a:xfrm>
        </p:spPr>
        <p:txBody>
          <a:bodyPr/>
          <a:lstStyle/>
          <a:p>
            <a:r>
              <a:rPr lang="pt-BR" dirty="0"/>
              <a:t>Sistemas </a:t>
            </a:r>
            <a:r>
              <a:rPr lang="pt-BR" dirty="0" err="1"/>
              <a:t>multiprogramado</a:t>
            </a:r>
            <a:endParaRPr lang="pt-BR" dirty="0"/>
          </a:p>
        </p:txBody>
      </p:sp>
      <p:sp>
        <p:nvSpPr>
          <p:cNvPr id="3" name="Espaço Reservado para Conteúdo 2">
            <a:extLst>
              <a:ext uri="{FF2B5EF4-FFF2-40B4-BE49-F238E27FC236}">
                <a16:creationId xmlns:a16="http://schemas.microsoft.com/office/drawing/2014/main" id="{508D07B0-18DD-9AAE-4EF9-D877CF2FDE73}"/>
              </a:ext>
            </a:extLst>
          </p:cNvPr>
          <p:cNvSpPr>
            <a:spLocks noGrp="1"/>
          </p:cNvSpPr>
          <p:nvPr>
            <p:ph sz="half" idx="2"/>
          </p:nvPr>
        </p:nvSpPr>
        <p:spPr>
          <a:xfrm>
            <a:off x="85726" y="2505075"/>
            <a:ext cx="5911850" cy="3684588"/>
          </a:xfrm>
        </p:spPr>
        <p:txBody>
          <a:bodyPr>
            <a:normAutofit/>
          </a:bodyPr>
          <a:lstStyle/>
          <a:p>
            <a:r>
              <a:rPr lang="pt-BR" dirty="0"/>
              <a:t>São os sistemas capazes de suportar diversos processos em execução.</a:t>
            </a:r>
          </a:p>
          <a:p>
            <a:pPr lvl="1"/>
            <a:r>
              <a:rPr lang="pt-BR" dirty="0"/>
              <a:t>Também são conhecidos como multitarefa</a:t>
            </a:r>
          </a:p>
        </p:txBody>
      </p:sp>
      <p:sp>
        <p:nvSpPr>
          <p:cNvPr id="34" name="Espaço Reservado para Texto 33">
            <a:extLst>
              <a:ext uri="{FF2B5EF4-FFF2-40B4-BE49-F238E27FC236}">
                <a16:creationId xmlns:a16="http://schemas.microsoft.com/office/drawing/2014/main" id="{2F7D5D05-F039-6CDE-F392-0471076CE2E0}"/>
              </a:ext>
            </a:extLst>
          </p:cNvPr>
          <p:cNvSpPr>
            <a:spLocks noGrp="1"/>
          </p:cNvSpPr>
          <p:nvPr>
            <p:ph type="body" sz="quarter" idx="3"/>
          </p:nvPr>
        </p:nvSpPr>
        <p:spPr/>
        <p:txBody>
          <a:bodyPr/>
          <a:lstStyle/>
          <a:p>
            <a:endParaRPr lang="pt-BR"/>
          </a:p>
        </p:txBody>
      </p:sp>
      <p:sp>
        <p:nvSpPr>
          <p:cNvPr id="26" name="Espaço Reservado para Conteúdo 25">
            <a:extLst>
              <a:ext uri="{FF2B5EF4-FFF2-40B4-BE49-F238E27FC236}">
                <a16:creationId xmlns:a16="http://schemas.microsoft.com/office/drawing/2014/main" id="{4F919D89-3867-C89D-0AA6-0B1B486BC892}"/>
              </a:ext>
            </a:extLst>
          </p:cNvPr>
          <p:cNvSpPr>
            <a:spLocks noGrp="1"/>
          </p:cNvSpPr>
          <p:nvPr>
            <p:ph sz="quarter" idx="4"/>
          </p:nvPr>
        </p:nvSpPr>
        <p:spPr>
          <a:xfrm>
            <a:off x="6172199" y="2505075"/>
            <a:ext cx="5911849" cy="3684588"/>
          </a:xfrm>
        </p:spPr>
        <p:txBody>
          <a:bodyPr>
            <a:normAutofit/>
          </a:bodyPr>
          <a:lstStyle/>
          <a:p>
            <a:r>
              <a:rPr lang="pt-BR" b="1" dirty="0" err="1">
                <a:solidFill>
                  <a:srgbClr val="000050"/>
                </a:solidFill>
              </a:rPr>
              <a:t>timesharing</a:t>
            </a:r>
            <a:r>
              <a:rPr lang="pt-BR" dirty="0"/>
              <a:t> – um sistema </a:t>
            </a:r>
            <a:r>
              <a:rPr lang="pt-BR" dirty="0" err="1"/>
              <a:t>multiprogramado</a:t>
            </a:r>
            <a:r>
              <a:rPr lang="pt-BR" dirty="0"/>
              <a:t> “divide” o tempo da CPU entre os diversos processos que estão sendo executados;</a:t>
            </a:r>
          </a:p>
          <a:p>
            <a:r>
              <a:rPr lang="pt-BR" b="1" dirty="0" err="1">
                <a:solidFill>
                  <a:srgbClr val="000050"/>
                </a:solidFill>
              </a:rPr>
              <a:t>pesudoparalelismo</a:t>
            </a:r>
            <a:r>
              <a:rPr lang="pt-BR" dirty="0"/>
              <a:t> – esta característica de “divisão de tempo” causa no usuário uma sensação de que tudo está acontecendo em paralelo (simultaneamente),</a:t>
            </a:r>
          </a:p>
          <a:p>
            <a:endParaRPr lang="pt-BR" dirty="0"/>
          </a:p>
        </p:txBody>
      </p:sp>
      <p:sp>
        <p:nvSpPr>
          <p:cNvPr id="6" name="Espaço Reservado para Número de Slide 5">
            <a:extLst>
              <a:ext uri="{FF2B5EF4-FFF2-40B4-BE49-F238E27FC236}">
                <a16:creationId xmlns:a16="http://schemas.microsoft.com/office/drawing/2014/main" id="{FAD8792B-5824-565D-A434-F29C73F6E119}"/>
              </a:ext>
            </a:extLst>
          </p:cNvPr>
          <p:cNvSpPr>
            <a:spLocks noGrp="1"/>
          </p:cNvSpPr>
          <p:nvPr>
            <p:ph type="sldNum" sz="quarter" idx="12"/>
          </p:nvPr>
        </p:nvSpPr>
        <p:spPr>
          <a:xfrm>
            <a:off x="11112000" y="6607819"/>
            <a:ext cx="720000" cy="216000"/>
          </a:xfrm>
        </p:spPr>
        <p:txBody>
          <a:bodyPr/>
          <a:lstStyle/>
          <a:p>
            <a:fld id="{889E4DDB-AB51-4EFC-ADEE-1042DB8CA710}" type="slidenum">
              <a:rPr lang="pt-BR" smtClean="0"/>
              <a:pPr/>
              <a:t>3</a:t>
            </a:fld>
            <a:endParaRPr lang="pt-BR"/>
          </a:p>
        </p:txBody>
      </p:sp>
      <p:pic>
        <p:nvPicPr>
          <p:cNvPr id="36" name="Imagem 35">
            <a:extLst>
              <a:ext uri="{FF2B5EF4-FFF2-40B4-BE49-F238E27FC236}">
                <a16:creationId xmlns:a16="http://schemas.microsoft.com/office/drawing/2014/main" id="{288A5B00-934A-43A7-A632-6BCA3F64DF5F}"/>
              </a:ext>
            </a:extLst>
          </p:cNvPr>
          <p:cNvPicPr>
            <a:picLocks noChangeAspect="1"/>
          </p:cNvPicPr>
          <p:nvPr/>
        </p:nvPicPr>
        <p:blipFill>
          <a:blip r:embed="rId3"/>
          <a:stretch>
            <a:fillRect/>
          </a:stretch>
        </p:blipFill>
        <p:spPr>
          <a:xfrm>
            <a:off x="1899222" y="3662199"/>
            <a:ext cx="1941879" cy="2412985"/>
          </a:xfrm>
          <a:prstGeom prst="rect">
            <a:avLst/>
          </a:prstGeom>
        </p:spPr>
      </p:pic>
    </p:spTree>
    <p:extLst>
      <p:ext uri="{BB962C8B-B14F-4D97-AF65-F5344CB8AC3E}">
        <p14:creationId xmlns:p14="http://schemas.microsoft.com/office/powerpoint/2010/main" val="3557380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55773F-F930-7DB5-D2EA-D3E6C6381F55}"/>
              </a:ext>
            </a:extLst>
          </p:cNvPr>
          <p:cNvSpPr>
            <a:spLocks noGrp="1"/>
          </p:cNvSpPr>
          <p:nvPr>
            <p:ph type="title"/>
          </p:nvPr>
        </p:nvSpPr>
        <p:spPr/>
        <p:txBody>
          <a:bodyPr/>
          <a:lstStyle/>
          <a:p>
            <a:r>
              <a:rPr lang="pt-BR" dirty="0"/>
              <a:t>PIPELINE</a:t>
            </a:r>
          </a:p>
        </p:txBody>
      </p:sp>
      <p:graphicFrame>
        <p:nvGraphicFramePr>
          <p:cNvPr id="5" name="Espaço Reservado para Conteúdo 4">
            <a:extLst>
              <a:ext uri="{FF2B5EF4-FFF2-40B4-BE49-F238E27FC236}">
                <a16:creationId xmlns:a16="http://schemas.microsoft.com/office/drawing/2014/main" id="{FA81C660-1FD0-DA04-05B4-C82147B42398}"/>
              </a:ext>
            </a:extLst>
          </p:cNvPr>
          <p:cNvGraphicFramePr>
            <a:graphicFrameLocks noGrp="1"/>
          </p:cNvGraphicFramePr>
          <p:nvPr>
            <p:ph idx="1"/>
            <p:extLst>
              <p:ext uri="{D42A27DB-BD31-4B8C-83A1-F6EECF244321}">
                <p14:modId xmlns:p14="http://schemas.microsoft.com/office/powerpoint/2010/main" val="3714289453"/>
              </p:ext>
            </p:extLst>
          </p:nvPr>
        </p:nvGraphicFramePr>
        <p:xfrm>
          <a:off x="1665567" y="1622737"/>
          <a:ext cx="8860866" cy="2350692"/>
        </p:xfrm>
        <a:graphic>
          <a:graphicData uri="http://schemas.openxmlformats.org/drawingml/2006/table">
            <a:tbl>
              <a:tblPr firstRow="1" bandRow="1">
                <a:tableStyleId>{93296810-A885-4BE3-A3E7-6D5BEEA58F35}</a:tableStyleId>
              </a:tblPr>
              <a:tblGrid>
                <a:gridCol w="1804866">
                  <a:extLst>
                    <a:ext uri="{9D8B030D-6E8A-4147-A177-3AD203B41FA5}">
                      <a16:colId xmlns:a16="http://schemas.microsoft.com/office/drawing/2014/main" val="1562316562"/>
                    </a:ext>
                  </a:extLst>
                </a:gridCol>
                <a:gridCol w="504000">
                  <a:extLst>
                    <a:ext uri="{9D8B030D-6E8A-4147-A177-3AD203B41FA5}">
                      <a16:colId xmlns:a16="http://schemas.microsoft.com/office/drawing/2014/main" val="1671449671"/>
                    </a:ext>
                  </a:extLst>
                </a:gridCol>
                <a:gridCol w="504000">
                  <a:extLst>
                    <a:ext uri="{9D8B030D-6E8A-4147-A177-3AD203B41FA5}">
                      <a16:colId xmlns:a16="http://schemas.microsoft.com/office/drawing/2014/main" val="4167753700"/>
                    </a:ext>
                  </a:extLst>
                </a:gridCol>
                <a:gridCol w="504000">
                  <a:extLst>
                    <a:ext uri="{9D8B030D-6E8A-4147-A177-3AD203B41FA5}">
                      <a16:colId xmlns:a16="http://schemas.microsoft.com/office/drawing/2014/main" val="3900247544"/>
                    </a:ext>
                  </a:extLst>
                </a:gridCol>
                <a:gridCol w="504000">
                  <a:extLst>
                    <a:ext uri="{9D8B030D-6E8A-4147-A177-3AD203B41FA5}">
                      <a16:colId xmlns:a16="http://schemas.microsoft.com/office/drawing/2014/main" val="462141110"/>
                    </a:ext>
                  </a:extLst>
                </a:gridCol>
                <a:gridCol w="504000">
                  <a:extLst>
                    <a:ext uri="{9D8B030D-6E8A-4147-A177-3AD203B41FA5}">
                      <a16:colId xmlns:a16="http://schemas.microsoft.com/office/drawing/2014/main" val="3623497291"/>
                    </a:ext>
                  </a:extLst>
                </a:gridCol>
                <a:gridCol w="504000">
                  <a:extLst>
                    <a:ext uri="{9D8B030D-6E8A-4147-A177-3AD203B41FA5}">
                      <a16:colId xmlns:a16="http://schemas.microsoft.com/office/drawing/2014/main" val="3676149939"/>
                    </a:ext>
                  </a:extLst>
                </a:gridCol>
                <a:gridCol w="504000">
                  <a:extLst>
                    <a:ext uri="{9D8B030D-6E8A-4147-A177-3AD203B41FA5}">
                      <a16:colId xmlns:a16="http://schemas.microsoft.com/office/drawing/2014/main" val="4229074975"/>
                    </a:ext>
                  </a:extLst>
                </a:gridCol>
                <a:gridCol w="504000">
                  <a:extLst>
                    <a:ext uri="{9D8B030D-6E8A-4147-A177-3AD203B41FA5}">
                      <a16:colId xmlns:a16="http://schemas.microsoft.com/office/drawing/2014/main" val="3297181433"/>
                    </a:ext>
                  </a:extLst>
                </a:gridCol>
                <a:gridCol w="504000">
                  <a:extLst>
                    <a:ext uri="{9D8B030D-6E8A-4147-A177-3AD203B41FA5}">
                      <a16:colId xmlns:a16="http://schemas.microsoft.com/office/drawing/2014/main" val="3159412049"/>
                    </a:ext>
                  </a:extLst>
                </a:gridCol>
                <a:gridCol w="504000">
                  <a:extLst>
                    <a:ext uri="{9D8B030D-6E8A-4147-A177-3AD203B41FA5}">
                      <a16:colId xmlns:a16="http://schemas.microsoft.com/office/drawing/2014/main" val="3933864993"/>
                    </a:ext>
                  </a:extLst>
                </a:gridCol>
                <a:gridCol w="504000">
                  <a:extLst>
                    <a:ext uri="{9D8B030D-6E8A-4147-A177-3AD203B41FA5}">
                      <a16:colId xmlns:a16="http://schemas.microsoft.com/office/drawing/2014/main" val="701702414"/>
                    </a:ext>
                  </a:extLst>
                </a:gridCol>
                <a:gridCol w="504000">
                  <a:extLst>
                    <a:ext uri="{9D8B030D-6E8A-4147-A177-3AD203B41FA5}">
                      <a16:colId xmlns:a16="http://schemas.microsoft.com/office/drawing/2014/main" val="1463267784"/>
                    </a:ext>
                  </a:extLst>
                </a:gridCol>
                <a:gridCol w="504000">
                  <a:extLst>
                    <a:ext uri="{9D8B030D-6E8A-4147-A177-3AD203B41FA5}">
                      <a16:colId xmlns:a16="http://schemas.microsoft.com/office/drawing/2014/main" val="3955070473"/>
                    </a:ext>
                  </a:extLst>
                </a:gridCol>
                <a:gridCol w="504000">
                  <a:extLst>
                    <a:ext uri="{9D8B030D-6E8A-4147-A177-3AD203B41FA5}">
                      <a16:colId xmlns:a16="http://schemas.microsoft.com/office/drawing/2014/main" val="2688088114"/>
                    </a:ext>
                  </a:extLst>
                </a:gridCol>
              </a:tblGrid>
              <a:tr h="433666">
                <a:tc>
                  <a:txBody>
                    <a:bodyPr/>
                    <a:lstStyle/>
                    <a:p>
                      <a:endParaRPr lang="pt-BR" dirty="0">
                        <a:solidFill>
                          <a:sysClr val="windowText" lastClr="000000"/>
                        </a:solidFill>
                      </a:endParaRPr>
                    </a:p>
                  </a:txBody>
                  <a:tcPr>
                    <a:lnR w="12700" cap="flat" cmpd="sng" algn="ctr">
                      <a:solidFill>
                        <a:schemeClr val="tx1"/>
                      </a:solidFill>
                      <a:prstDash val="solid"/>
                      <a:round/>
                      <a:headEnd type="none" w="med" len="med"/>
                      <a:tailEnd type="none" w="med" len="med"/>
                    </a:lnR>
                  </a:tcPr>
                </a:tc>
                <a:tc gridSpan="8">
                  <a:txBody>
                    <a:bodyPr/>
                    <a:lstStyle/>
                    <a:p>
                      <a:pPr algn="ctr"/>
                      <a:r>
                        <a:rPr lang="pt-BR" dirty="0">
                          <a:solidFill>
                            <a:sysClr val="windowText" lastClr="000000"/>
                          </a:solidFill>
                        </a:rPr>
                        <a:t>SEM PIPELINE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pt-BR" dirty="0">
                        <a:solidFill>
                          <a:sysClr val="windowText" lastClr="000000"/>
                        </a:solidFill>
                      </a:endParaRPr>
                    </a:p>
                  </a:txBody>
                  <a:tcPr/>
                </a:tc>
                <a:tc hMerge="1">
                  <a:txBody>
                    <a:bodyPr/>
                    <a:lstStyle/>
                    <a:p>
                      <a:endParaRPr lang="pt-BR" dirty="0">
                        <a:solidFill>
                          <a:sysClr val="windowText" lastClr="000000"/>
                        </a:solidFill>
                      </a:endParaRPr>
                    </a:p>
                  </a:txBody>
                  <a:tcPr/>
                </a:tc>
                <a:tc hMerge="1">
                  <a:txBody>
                    <a:bodyPr/>
                    <a:lstStyle/>
                    <a:p>
                      <a:endParaRPr lang="pt-BR" dirty="0">
                        <a:solidFill>
                          <a:sysClr val="windowText" lastClr="000000"/>
                        </a:solidFill>
                      </a:endParaRPr>
                    </a:p>
                  </a:txBody>
                  <a:tcPr/>
                </a:tc>
                <a:tc hMerge="1">
                  <a:txBody>
                    <a:bodyPr/>
                    <a:lstStyle/>
                    <a:p>
                      <a:endParaRPr lang="pt-BR" dirty="0">
                        <a:solidFill>
                          <a:sysClr val="windowText" lastClr="000000"/>
                        </a:solidFill>
                      </a:endParaRPr>
                    </a:p>
                  </a:txBody>
                  <a:tcPr/>
                </a:tc>
                <a:tc hMerge="1">
                  <a:txBody>
                    <a:bodyPr/>
                    <a:lstStyle/>
                    <a:p>
                      <a:endParaRPr lang="pt-BR" dirty="0">
                        <a:solidFill>
                          <a:sysClr val="windowText" lastClr="000000"/>
                        </a:solidFill>
                      </a:endParaRPr>
                    </a:p>
                  </a:txBody>
                  <a:tcPr/>
                </a:tc>
                <a:tc hMerge="1">
                  <a:txBody>
                    <a:bodyPr/>
                    <a:lstStyle/>
                    <a:p>
                      <a:endParaRPr lang="pt-BR" dirty="0">
                        <a:solidFill>
                          <a:sysClr val="windowText" lastClr="000000"/>
                        </a:solidFill>
                      </a:endParaRPr>
                    </a:p>
                  </a:txBody>
                  <a:tcPr/>
                </a:tc>
                <a:tc hMerge="1">
                  <a:txBody>
                    <a:bodyPr/>
                    <a:lstStyle/>
                    <a:p>
                      <a:endParaRPr lang="pt-BR" dirty="0">
                        <a:solidFill>
                          <a:sysClr val="windowText" lastClr="000000"/>
                        </a:solidFill>
                      </a:endParaRPr>
                    </a:p>
                  </a:txBody>
                  <a:tcPr/>
                </a:tc>
                <a:tc>
                  <a:txBody>
                    <a:bodyPr/>
                    <a:lstStyle/>
                    <a:p>
                      <a:endParaRPr lang="pt-BR" dirty="0">
                        <a:solidFill>
                          <a:sysClr val="windowText" lastClr="000000"/>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gridSpan="5">
                  <a:txBody>
                    <a:bodyPr/>
                    <a:lstStyle/>
                    <a:p>
                      <a:pPr algn="ctr"/>
                      <a:r>
                        <a:rPr lang="pt-BR" dirty="0">
                          <a:solidFill>
                            <a:sysClr val="windowText" lastClr="000000"/>
                          </a:solidFill>
                        </a:rPr>
                        <a:t>COM PIPELINE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pt-BR" dirty="0">
                        <a:solidFill>
                          <a:sysClr val="windowText" lastClr="000000"/>
                        </a:solidFill>
                      </a:endParaRPr>
                    </a:p>
                  </a:txBody>
                  <a:tcPr/>
                </a:tc>
                <a:tc hMerge="1">
                  <a:txBody>
                    <a:bodyPr/>
                    <a:lstStyle/>
                    <a:p>
                      <a:endParaRPr lang="pt-BR" dirty="0">
                        <a:solidFill>
                          <a:sysClr val="windowText" lastClr="000000"/>
                        </a:solidFill>
                      </a:endParaRPr>
                    </a:p>
                  </a:txBody>
                  <a:tcPr/>
                </a:tc>
                <a:tc hMerge="1">
                  <a:txBody>
                    <a:bodyPr/>
                    <a:lstStyle/>
                    <a:p>
                      <a:endParaRPr lang="pt-BR" dirty="0">
                        <a:solidFill>
                          <a:sysClr val="windowText" lastClr="000000"/>
                        </a:solidFill>
                      </a:endParaRPr>
                    </a:p>
                  </a:txBody>
                  <a:tcPr/>
                </a:tc>
                <a:tc hMerge="1">
                  <a:txBody>
                    <a:bodyPr/>
                    <a:lstStyle/>
                    <a:p>
                      <a:endParaRPr lang="pt-BR" dirty="0">
                        <a:solidFill>
                          <a:sysClr val="windowText" lastClr="000000"/>
                        </a:solidFill>
                      </a:endParaRPr>
                    </a:p>
                  </a:txBody>
                  <a:tcPr/>
                </a:tc>
                <a:extLst>
                  <a:ext uri="{0D108BD9-81ED-4DB2-BD59-A6C34878D82A}">
                    <a16:rowId xmlns:a16="http://schemas.microsoft.com/office/drawing/2014/main" val="4083649489"/>
                  </a:ext>
                </a:extLst>
              </a:tr>
              <a:tr h="433666">
                <a:tc>
                  <a:txBody>
                    <a:bodyPr/>
                    <a:lstStyle/>
                    <a:p>
                      <a:r>
                        <a:rPr lang="pt-BR" dirty="0">
                          <a:solidFill>
                            <a:sysClr val="windowText" lastClr="000000"/>
                          </a:solidFill>
                        </a:rPr>
                        <a:t>Tempo</a:t>
                      </a:r>
                    </a:p>
                  </a:txBody>
                  <a:tcPr>
                    <a:lnR w="12700" cap="flat" cmpd="sng" algn="ctr">
                      <a:solidFill>
                        <a:schemeClr val="tx1"/>
                      </a:solidFill>
                      <a:prstDash val="solid"/>
                      <a:round/>
                      <a:headEnd type="none" w="med" len="med"/>
                      <a:tailEnd type="none" w="med" len="med"/>
                    </a:lnR>
                  </a:tcPr>
                </a:tc>
                <a:tc>
                  <a:txBody>
                    <a:bodyPr/>
                    <a:lstStyle/>
                    <a:p>
                      <a:r>
                        <a:rPr lang="pt-BR">
                          <a:solidFill>
                            <a:sysClr val="windowText" lastClr="000000"/>
                          </a:solidFill>
                        </a:rPr>
                        <a:t>1</a:t>
                      </a:r>
                      <a:endParaRPr lang="pt-BR" dirty="0">
                        <a:solidFill>
                          <a:sysClr val="windowText" lastClr="000000"/>
                        </a:solidFill>
                      </a:endParaRPr>
                    </a:p>
                  </a:txBody>
                  <a:tcPr>
                    <a:lnL w="12700" cap="flat" cmpd="sng" algn="ctr">
                      <a:solidFill>
                        <a:schemeClr val="tx1"/>
                      </a:solidFill>
                      <a:prstDash val="solid"/>
                      <a:round/>
                      <a:headEnd type="none" w="med" len="med"/>
                      <a:tailEnd type="none" w="med" len="med"/>
                    </a:lnL>
                  </a:tcPr>
                </a:tc>
                <a:tc>
                  <a:txBody>
                    <a:bodyPr/>
                    <a:lstStyle/>
                    <a:p>
                      <a:endParaRPr lang="pt-BR" dirty="0">
                        <a:solidFill>
                          <a:sysClr val="windowText" lastClr="000000"/>
                        </a:solidFill>
                      </a:endParaRPr>
                    </a:p>
                  </a:txBody>
                  <a:tcPr/>
                </a:tc>
                <a:tc>
                  <a:txBody>
                    <a:bodyPr/>
                    <a:lstStyle/>
                    <a:p>
                      <a:endParaRPr lang="pt-BR">
                        <a:solidFill>
                          <a:sysClr val="windowText" lastClr="000000"/>
                        </a:solidFill>
                      </a:endParaRPr>
                    </a:p>
                  </a:txBody>
                  <a:tcPr/>
                </a:tc>
                <a:tc>
                  <a:txBody>
                    <a:bodyPr/>
                    <a:lstStyle/>
                    <a:p>
                      <a:endParaRPr lang="pt-BR">
                        <a:solidFill>
                          <a:sysClr val="windowText" lastClr="000000"/>
                        </a:solidFill>
                      </a:endParaRPr>
                    </a:p>
                  </a:txBody>
                  <a:tcPr/>
                </a:tc>
                <a:tc>
                  <a:txBody>
                    <a:bodyPr/>
                    <a:lstStyle/>
                    <a:p>
                      <a:r>
                        <a:rPr lang="pt-BR" dirty="0">
                          <a:solidFill>
                            <a:sysClr val="windowText" lastClr="000000"/>
                          </a:solidFill>
                        </a:rPr>
                        <a:t>2</a:t>
                      </a:r>
                    </a:p>
                  </a:txBody>
                  <a:tcPr/>
                </a:tc>
                <a:tc>
                  <a:txBody>
                    <a:bodyPr/>
                    <a:lstStyle/>
                    <a:p>
                      <a:endParaRPr lang="pt-BR" dirty="0">
                        <a:solidFill>
                          <a:sysClr val="windowText" lastClr="000000"/>
                        </a:solidFill>
                      </a:endParaRPr>
                    </a:p>
                  </a:txBody>
                  <a:tcPr/>
                </a:tc>
                <a:tc>
                  <a:txBody>
                    <a:bodyPr/>
                    <a:lstStyle/>
                    <a:p>
                      <a:endParaRPr lang="pt-BR" dirty="0">
                        <a:solidFill>
                          <a:sysClr val="windowText" lastClr="000000"/>
                        </a:solidFill>
                      </a:endParaRPr>
                    </a:p>
                  </a:txBody>
                  <a:tcPr/>
                </a:tc>
                <a:tc>
                  <a:txBody>
                    <a:bodyPr/>
                    <a:lstStyle/>
                    <a:p>
                      <a:endParaRPr lang="pt-BR" dirty="0">
                        <a:solidFill>
                          <a:sysClr val="windowText" lastClr="000000"/>
                        </a:solidFill>
                      </a:endParaRPr>
                    </a:p>
                  </a:txBody>
                  <a:tcPr>
                    <a:lnR w="12700" cap="flat" cmpd="sng" algn="ctr">
                      <a:solidFill>
                        <a:schemeClr val="tx1"/>
                      </a:solidFill>
                      <a:prstDash val="solid"/>
                      <a:round/>
                      <a:headEnd type="none" w="med" len="med"/>
                      <a:tailEnd type="none" w="med" len="med"/>
                    </a:lnR>
                  </a:tcPr>
                </a:tc>
                <a:tc>
                  <a:txBody>
                    <a:bodyPr/>
                    <a:lstStyle/>
                    <a:p>
                      <a:endParaRPr lang="pt-BR" dirty="0">
                        <a:solidFill>
                          <a:sysClr val="windowText" lastClr="000000"/>
                        </a:solidFill>
                      </a:endParaRPr>
                    </a:p>
                  </a:txBody>
                  <a:tcPr>
                    <a:lnL w="12700" cap="flat" cmpd="sng" algn="ctr">
                      <a:solidFill>
                        <a:schemeClr val="tx1"/>
                      </a:solidFill>
                      <a:prstDash val="solid"/>
                      <a:round/>
                      <a:headEnd type="none" w="med" len="med"/>
                      <a:tailEnd type="none" w="med" len="med"/>
                    </a:lnL>
                  </a:tcPr>
                </a:tc>
                <a:tc>
                  <a:txBody>
                    <a:bodyPr/>
                    <a:lstStyle/>
                    <a:p>
                      <a:r>
                        <a:rPr lang="pt-BR" dirty="0">
                          <a:solidFill>
                            <a:sysClr val="windowText" lastClr="000000"/>
                          </a:solidFill>
                        </a:rPr>
                        <a:t>1</a:t>
                      </a:r>
                    </a:p>
                  </a:txBody>
                  <a:tcPr/>
                </a:tc>
                <a:tc>
                  <a:txBody>
                    <a:bodyPr/>
                    <a:lstStyle/>
                    <a:p>
                      <a:r>
                        <a:rPr lang="pt-BR" dirty="0">
                          <a:solidFill>
                            <a:sysClr val="windowText" lastClr="000000"/>
                          </a:solidFill>
                        </a:rPr>
                        <a:t>2</a:t>
                      </a:r>
                    </a:p>
                  </a:txBody>
                  <a:tcPr/>
                </a:tc>
                <a:tc>
                  <a:txBody>
                    <a:bodyPr/>
                    <a:lstStyle/>
                    <a:p>
                      <a:endParaRPr lang="pt-BR" dirty="0">
                        <a:solidFill>
                          <a:sysClr val="windowText" lastClr="000000"/>
                        </a:solidFill>
                      </a:endParaRPr>
                    </a:p>
                  </a:txBody>
                  <a:tcPr/>
                </a:tc>
                <a:tc>
                  <a:txBody>
                    <a:bodyPr/>
                    <a:lstStyle/>
                    <a:p>
                      <a:endParaRPr lang="pt-BR" dirty="0">
                        <a:solidFill>
                          <a:sysClr val="windowText" lastClr="000000"/>
                        </a:solidFill>
                      </a:endParaRPr>
                    </a:p>
                  </a:txBody>
                  <a:tcPr/>
                </a:tc>
                <a:tc>
                  <a:txBody>
                    <a:bodyPr/>
                    <a:lstStyle/>
                    <a:p>
                      <a:endParaRPr lang="pt-BR" dirty="0">
                        <a:solidFill>
                          <a:sysClr val="windowText" lastClr="000000"/>
                        </a:solidFill>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439664927"/>
                  </a:ext>
                </a:extLst>
              </a:tr>
              <a:tr h="370840">
                <a:tc>
                  <a:txBody>
                    <a:bodyPr/>
                    <a:lstStyle/>
                    <a:p>
                      <a:r>
                        <a:rPr lang="pt-BR" dirty="0">
                          <a:solidFill>
                            <a:sysClr val="windowText" lastClr="000000"/>
                          </a:solidFill>
                        </a:rPr>
                        <a:t>Busca</a:t>
                      </a:r>
                    </a:p>
                  </a:txBody>
                  <a:tcPr>
                    <a:lnR w="12700" cap="flat" cmpd="sng" algn="ctr">
                      <a:solidFill>
                        <a:schemeClr val="tx1"/>
                      </a:solidFill>
                      <a:prstDash val="solid"/>
                      <a:round/>
                      <a:headEnd type="none" w="med" len="med"/>
                      <a:tailEnd type="none" w="med" len="med"/>
                    </a:lnR>
                  </a:tcPr>
                </a:tc>
                <a:tc>
                  <a:txBody>
                    <a:bodyPr/>
                    <a:lstStyle/>
                    <a:p>
                      <a:endParaRPr lang="pt-BR" dirty="0">
                        <a:solidFill>
                          <a:sysClr val="windowText" lastClr="000000"/>
                        </a:solidFill>
                      </a:endParaRPr>
                    </a:p>
                  </a:txBody>
                  <a:tcPr>
                    <a:lnL w="12700" cap="flat" cmpd="sng" algn="ctr">
                      <a:solidFill>
                        <a:schemeClr val="tx1"/>
                      </a:solidFill>
                      <a:prstDash val="solid"/>
                      <a:round/>
                      <a:headEnd type="none" w="med" len="med"/>
                      <a:tailEnd type="none" w="med" len="med"/>
                    </a:lnL>
                    <a:solidFill>
                      <a:schemeClr val="tx1"/>
                    </a:solidFill>
                  </a:tcPr>
                </a:tc>
                <a:tc>
                  <a:txBody>
                    <a:bodyPr/>
                    <a:lstStyle/>
                    <a:p>
                      <a:endParaRPr lang="pt-BR" dirty="0">
                        <a:solidFill>
                          <a:sysClr val="windowText" lastClr="000000"/>
                        </a:solidFill>
                      </a:endParaRPr>
                    </a:p>
                  </a:txBody>
                  <a:tcPr/>
                </a:tc>
                <a:tc>
                  <a:txBody>
                    <a:bodyPr/>
                    <a:lstStyle/>
                    <a:p>
                      <a:endParaRPr lang="pt-BR" dirty="0">
                        <a:solidFill>
                          <a:sysClr val="windowText" lastClr="000000"/>
                        </a:solidFill>
                      </a:endParaRPr>
                    </a:p>
                  </a:txBody>
                  <a:tcPr/>
                </a:tc>
                <a:tc>
                  <a:txBody>
                    <a:bodyPr/>
                    <a:lstStyle/>
                    <a:p>
                      <a:endParaRPr lang="pt-BR">
                        <a:solidFill>
                          <a:sysClr val="windowText" lastClr="000000"/>
                        </a:solidFill>
                      </a:endParaRPr>
                    </a:p>
                  </a:txBody>
                  <a:tcPr/>
                </a:tc>
                <a:tc>
                  <a:txBody>
                    <a:bodyPr/>
                    <a:lstStyle/>
                    <a:p>
                      <a:endParaRPr lang="pt-BR" dirty="0">
                        <a:solidFill>
                          <a:sysClr val="windowText" lastClr="000000"/>
                        </a:solidFill>
                      </a:endParaRPr>
                    </a:p>
                  </a:txBody>
                  <a:tcPr>
                    <a:solidFill>
                      <a:srgbClr val="FF0000"/>
                    </a:solidFill>
                  </a:tcPr>
                </a:tc>
                <a:tc>
                  <a:txBody>
                    <a:bodyPr/>
                    <a:lstStyle/>
                    <a:p>
                      <a:endParaRPr lang="pt-BR">
                        <a:solidFill>
                          <a:sysClr val="windowText" lastClr="000000"/>
                        </a:solidFill>
                      </a:endParaRPr>
                    </a:p>
                  </a:txBody>
                  <a:tcPr/>
                </a:tc>
                <a:tc>
                  <a:txBody>
                    <a:bodyPr/>
                    <a:lstStyle/>
                    <a:p>
                      <a:endParaRPr lang="pt-BR" dirty="0">
                        <a:solidFill>
                          <a:sysClr val="windowText" lastClr="000000"/>
                        </a:solidFill>
                      </a:endParaRPr>
                    </a:p>
                  </a:txBody>
                  <a:tcPr/>
                </a:tc>
                <a:tc>
                  <a:txBody>
                    <a:bodyPr/>
                    <a:lstStyle/>
                    <a:p>
                      <a:endParaRPr lang="pt-BR" dirty="0">
                        <a:solidFill>
                          <a:sysClr val="windowText" lastClr="000000"/>
                        </a:solidFill>
                      </a:endParaRPr>
                    </a:p>
                  </a:txBody>
                  <a:tcPr>
                    <a:lnR w="12700" cap="flat" cmpd="sng" algn="ctr">
                      <a:solidFill>
                        <a:schemeClr val="tx1"/>
                      </a:solidFill>
                      <a:prstDash val="solid"/>
                      <a:round/>
                      <a:headEnd type="none" w="med" len="med"/>
                      <a:tailEnd type="none" w="med" len="med"/>
                    </a:lnR>
                  </a:tcPr>
                </a:tc>
                <a:tc>
                  <a:txBody>
                    <a:bodyPr/>
                    <a:lstStyle/>
                    <a:p>
                      <a:endParaRPr lang="pt-BR" dirty="0">
                        <a:solidFill>
                          <a:sysClr val="windowText" lastClr="000000"/>
                        </a:solidFill>
                      </a:endParaRPr>
                    </a:p>
                  </a:txBody>
                  <a:tcPr>
                    <a:lnL w="12700" cap="flat" cmpd="sng" algn="ctr">
                      <a:solidFill>
                        <a:schemeClr val="tx1"/>
                      </a:solidFill>
                      <a:prstDash val="solid"/>
                      <a:round/>
                      <a:headEnd type="none" w="med" len="med"/>
                      <a:tailEnd type="none" w="med" len="med"/>
                    </a:lnL>
                  </a:tcPr>
                </a:tc>
                <a:tc>
                  <a:txBody>
                    <a:bodyPr/>
                    <a:lstStyle/>
                    <a:p>
                      <a:endParaRPr lang="pt-BR" dirty="0">
                        <a:solidFill>
                          <a:sysClr val="windowText" lastClr="000000"/>
                        </a:solidFill>
                      </a:endParaRPr>
                    </a:p>
                  </a:txBody>
                  <a:tcPr>
                    <a:solidFill>
                      <a:schemeClr val="tx1"/>
                    </a:solidFill>
                  </a:tcPr>
                </a:tc>
                <a:tc>
                  <a:txBody>
                    <a:bodyPr/>
                    <a:lstStyle/>
                    <a:p>
                      <a:endParaRPr lang="pt-BR" dirty="0">
                        <a:solidFill>
                          <a:sysClr val="windowText" lastClr="000000"/>
                        </a:solidFill>
                      </a:endParaRPr>
                    </a:p>
                  </a:txBody>
                  <a:tcPr>
                    <a:solidFill>
                      <a:srgbClr val="FF0000"/>
                    </a:solidFill>
                  </a:tcPr>
                </a:tc>
                <a:tc>
                  <a:txBody>
                    <a:bodyPr/>
                    <a:lstStyle/>
                    <a:p>
                      <a:endParaRPr lang="pt-BR" dirty="0">
                        <a:solidFill>
                          <a:sysClr val="windowText" lastClr="000000"/>
                        </a:solidFill>
                      </a:endParaRPr>
                    </a:p>
                  </a:txBody>
                  <a:tcPr/>
                </a:tc>
                <a:tc>
                  <a:txBody>
                    <a:bodyPr/>
                    <a:lstStyle/>
                    <a:p>
                      <a:endParaRPr lang="pt-BR" dirty="0">
                        <a:solidFill>
                          <a:sysClr val="windowText" lastClr="000000"/>
                        </a:solidFill>
                      </a:endParaRPr>
                    </a:p>
                  </a:txBody>
                  <a:tcPr/>
                </a:tc>
                <a:tc>
                  <a:txBody>
                    <a:bodyPr/>
                    <a:lstStyle/>
                    <a:p>
                      <a:endParaRPr lang="pt-BR" dirty="0">
                        <a:solidFill>
                          <a:sysClr val="windowText" lastClr="000000"/>
                        </a:solidFill>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93169438"/>
                  </a:ext>
                </a:extLst>
              </a:tr>
              <a:tr h="370840">
                <a:tc>
                  <a:txBody>
                    <a:bodyPr/>
                    <a:lstStyle/>
                    <a:p>
                      <a:r>
                        <a:rPr lang="pt-BR" dirty="0">
                          <a:solidFill>
                            <a:sysClr val="windowText" lastClr="000000"/>
                          </a:solidFill>
                        </a:rPr>
                        <a:t>Decodificação</a:t>
                      </a:r>
                    </a:p>
                  </a:txBody>
                  <a:tcPr>
                    <a:lnR w="12700" cap="flat" cmpd="sng" algn="ctr">
                      <a:solidFill>
                        <a:schemeClr val="tx1"/>
                      </a:solidFill>
                      <a:prstDash val="solid"/>
                      <a:round/>
                      <a:headEnd type="none" w="med" len="med"/>
                      <a:tailEnd type="none" w="med" len="med"/>
                    </a:lnR>
                  </a:tcPr>
                </a:tc>
                <a:tc>
                  <a:txBody>
                    <a:bodyPr/>
                    <a:lstStyle/>
                    <a:p>
                      <a:endParaRPr lang="pt-BR" dirty="0">
                        <a:solidFill>
                          <a:sysClr val="windowText" lastClr="000000"/>
                        </a:solidFill>
                      </a:endParaRPr>
                    </a:p>
                  </a:txBody>
                  <a:tcPr>
                    <a:lnL w="12700" cap="flat" cmpd="sng" algn="ctr">
                      <a:solidFill>
                        <a:schemeClr val="tx1"/>
                      </a:solidFill>
                      <a:prstDash val="solid"/>
                      <a:round/>
                      <a:headEnd type="none" w="med" len="med"/>
                      <a:tailEnd type="none" w="med" len="med"/>
                    </a:lnL>
                  </a:tcPr>
                </a:tc>
                <a:tc>
                  <a:txBody>
                    <a:bodyPr/>
                    <a:lstStyle/>
                    <a:p>
                      <a:endParaRPr lang="pt-BR" dirty="0">
                        <a:solidFill>
                          <a:sysClr val="windowText" lastClr="000000"/>
                        </a:solidFill>
                      </a:endParaRPr>
                    </a:p>
                  </a:txBody>
                  <a:tcPr>
                    <a:solidFill>
                      <a:schemeClr val="tx1"/>
                    </a:solidFill>
                  </a:tcPr>
                </a:tc>
                <a:tc>
                  <a:txBody>
                    <a:bodyPr/>
                    <a:lstStyle/>
                    <a:p>
                      <a:endParaRPr lang="pt-BR" dirty="0">
                        <a:solidFill>
                          <a:sysClr val="windowText" lastClr="000000"/>
                        </a:solidFill>
                      </a:endParaRPr>
                    </a:p>
                  </a:txBody>
                  <a:tcPr/>
                </a:tc>
                <a:tc>
                  <a:txBody>
                    <a:bodyPr/>
                    <a:lstStyle/>
                    <a:p>
                      <a:endParaRPr lang="pt-BR">
                        <a:solidFill>
                          <a:sysClr val="windowText" lastClr="000000"/>
                        </a:solidFill>
                      </a:endParaRPr>
                    </a:p>
                  </a:txBody>
                  <a:tcPr/>
                </a:tc>
                <a:tc>
                  <a:txBody>
                    <a:bodyPr/>
                    <a:lstStyle/>
                    <a:p>
                      <a:endParaRPr lang="pt-BR">
                        <a:solidFill>
                          <a:sysClr val="windowText" lastClr="000000"/>
                        </a:solidFill>
                      </a:endParaRPr>
                    </a:p>
                  </a:txBody>
                  <a:tcPr/>
                </a:tc>
                <a:tc>
                  <a:txBody>
                    <a:bodyPr/>
                    <a:lstStyle/>
                    <a:p>
                      <a:endParaRPr lang="pt-BR" dirty="0">
                        <a:solidFill>
                          <a:sysClr val="windowText" lastClr="000000"/>
                        </a:solidFill>
                      </a:endParaRPr>
                    </a:p>
                  </a:txBody>
                  <a:tcPr>
                    <a:solidFill>
                      <a:srgbClr val="FF0000"/>
                    </a:solidFill>
                  </a:tcPr>
                </a:tc>
                <a:tc>
                  <a:txBody>
                    <a:bodyPr/>
                    <a:lstStyle/>
                    <a:p>
                      <a:endParaRPr lang="pt-BR">
                        <a:solidFill>
                          <a:sysClr val="windowText" lastClr="000000"/>
                        </a:solidFill>
                      </a:endParaRPr>
                    </a:p>
                  </a:txBody>
                  <a:tcPr/>
                </a:tc>
                <a:tc>
                  <a:txBody>
                    <a:bodyPr/>
                    <a:lstStyle/>
                    <a:p>
                      <a:endParaRPr lang="pt-BR">
                        <a:solidFill>
                          <a:sysClr val="windowText" lastClr="000000"/>
                        </a:solidFill>
                      </a:endParaRPr>
                    </a:p>
                  </a:txBody>
                  <a:tcPr>
                    <a:lnR w="12700" cap="flat" cmpd="sng" algn="ctr">
                      <a:solidFill>
                        <a:schemeClr val="tx1"/>
                      </a:solidFill>
                      <a:prstDash val="solid"/>
                      <a:round/>
                      <a:headEnd type="none" w="med" len="med"/>
                      <a:tailEnd type="none" w="med" len="med"/>
                    </a:lnR>
                  </a:tcPr>
                </a:tc>
                <a:tc>
                  <a:txBody>
                    <a:bodyPr/>
                    <a:lstStyle/>
                    <a:p>
                      <a:endParaRPr lang="pt-BR" dirty="0">
                        <a:solidFill>
                          <a:sysClr val="windowText" lastClr="000000"/>
                        </a:solidFill>
                      </a:endParaRPr>
                    </a:p>
                  </a:txBody>
                  <a:tcPr>
                    <a:lnL w="12700" cap="flat" cmpd="sng" algn="ctr">
                      <a:solidFill>
                        <a:schemeClr val="tx1"/>
                      </a:solidFill>
                      <a:prstDash val="solid"/>
                      <a:round/>
                      <a:headEnd type="none" w="med" len="med"/>
                      <a:tailEnd type="none" w="med" len="med"/>
                    </a:lnL>
                  </a:tcPr>
                </a:tc>
                <a:tc>
                  <a:txBody>
                    <a:bodyPr/>
                    <a:lstStyle/>
                    <a:p>
                      <a:endParaRPr lang="pt-BR" dirty="0">
                        <a:solidFill>
                          <a:sysClr val="windowText" lastClr="000000"/>
                        </a:solidFill>
                      </a:endParaRPr>
                    </a:p>
                  </a:txBody>
                  <a:tcPr/>
                </a:tc>
                <a:tc>
                  <a:txBody>
                    <a:bodyPr/>
                    <a:lstStyle/>
                    <a:p>
                      <a:endParaRPr lang="pt-BR" dirty="0">
                        <a:solidFill>
                          <a:sysClr val="windowText" lastClr="000000"/>
                        </a:solidFill>
                      </a:endParaRPr>
                    </a:p>
                  </a:txBody>
                  <a:tcPr>
                    <a:solidFill>
                      <a:schemeClr val="tx1"/>
                    </a:solidFill>
                  </a:tcPr>
                </a:tc>
                <a:tc>
                  <a:txBody>
                    <a:bodyPr/>
                    <a:lstStyle/>
                    <a:p>
                      <a:endParaRPr lang="pt-BR" dirty="0">
                        <a:solidFill>
                          <a:sysClr val="windowText" lastClr="000000"/>
                        </a:solidFill>
                      </a:endParaRPr>
                    </a:p>
                  </a:txBody>
                  <a:tcPr>
                    <a:solidFill>
                      <a:srgbClr val="FF0000"/>
                    </a:solidFill>
                  </a:tcPr>
                </a:tc>
                <a:tc>
                  <a:txBody>
                    <a:bodyPr/>
                    <a:lstStyle/>
                    <a:p>
                      <a:endParaRPr lang="pt-BR" dirty="0">
                        <a:solidFill>
                          <a:sysClr val="windowText" lastClr="000000"/>
                        </a:solidFill>
                      </a:endParaRPr>
                    </a:p>
                  </a:txBody>
                  <a:tcPr/>
                </a:tc>
                <a:tc>
                  <a:txBody>
                    <a:bodyPr/>
                    <a:lstStyle/>
                    <a:p>
                      <a:endParaRPr lang="pt-BR" dirty="0">
                        <a:solidFill>
                          <a:sysClr val="windowText" lastClr="000000"/>
                        </a:solidFill>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84876140"/>
                  </a:ext>
                </a:extLst>
              </a:tr>
              <a:tr h="370840">
                <a:tc>
                  <a:txBody>
                    <a:bodyPr/>
                    <a:lstStyle/>
                    <a:p>
                      <a:r>
                        <a:rPr lang="pt-BR" dirty="0">
                          <a:solidFill>
                            <a:sysClr val="windowText" lastClr="000000"/>
                          </a:solidFill>
                        </a:rPr>
                        <a:t>Interpretação</a:t>
                      </a:r>
                    </a:p>
                  </a:txBody>
                  <a:tcPr>
                    <a:lnR w="12700" cap="flat" cmpd="sng" algn="ctr">
                      <a:solidFill>
                        <a:schemeClr val="tx1"/>
                      </a:solidFill>
                      <a:prstDash val="solid"/>
                      <a:round/>
                      <a:headEnd type="none" w="med" len="med"/>
                      <a:tailEnd type="none" w="med" len="med"/>
                    </a:lnR>
                  </a:tcPr>
                </a:tc>
                <a:tc>
                  <a:txBody>
                    <a:bodyPr/>
                    <a:lstStyle/>
                    <a:p>
                      <a:endParaRPr lang="pt-BR">
                        <a:solidFill>
                          <a:sysClr val="windowText" lastClr="000000"/>
                        </a:solidFill>
                      </a:endParaRPr>
                    </a:p>
                  </a:txBody>
                  <a:tcPr>
                    <a:lnL w="12700" cap="flat" cmpd="sng" algn="ctr">
                      <a:solidFill>
                        <a:schemeClr val="tx1"/>
                      </a:solidFill>
                      <a:prstDash val="solid"/>
                      <a:round/>
                      <a:headEnd type="none" w="med" len="med"/>
                      <a:tailEnd type="none" w="med" len="med"/>
                    </a:lnL>
                  </a:tcPr>
                </a:tc>
                <a:tc>
                  <a:txBody>
                    <a:bodyPr/>
                    <a:lstStyle/>
                    <a:p>
                      <a:endParaRPr lang="pt-BR" dirty="0">
                        <a:solidFill>
                          <a:sysClr val="windowText" lastClr="000000"/>
                        </a:solidFill>
                      </a:endParaRPr>
                    </a:p>
                  </a:txBody>
                  <a:tcPr/>
                </a:tc>
                <a:tc>
                  <a:txBody>
                    <a:bodyPr/>
                    <a:lstStyle/>
                    <a:p>
                      <a:endParaRPr lang="pt-BR" dirty="0">
                        <a:solidFill>
                          <a:sysClr val="windowText" lastClr="000000"/>
                        </a:solidFill>
                      </a:endParaRPr>
                    </a:p>
                  </a:txBody>
                  <a:tcPr>
                    <a:solidFill>
                      <a:schemeClr val="tx1"/>
                    </a:solidFill>
                  </a:tcPr>
                </a:tc>
                <a:tc>
                  <a:txBody>
                    <a:bodyPr/>
                    <a:lstStyle/>
                    <a:p>
                      <a:endParaRPr lang="pt-BR" dirty="0">
                        <a:solidFill>
                          <a:sysClr val="windowText" lastClr="000000"/>
                        </a:solidFill>
                      </a:endParaRPr>
                    </a:p>
                  </a:txBody>
                  <a:tcPr/>
                </a:tc>
                <a:tc>
                  <a:txBody>
                    <a:bodyPr/>
                    <a:lstStyle/>
                    <a:p>
                      <a:endParaRPr lang="pt-BR" dirty="0">
                        <a:solidFill>
                          <a:sysClr val="windowText" lastClr="000000"/>
                        </a:solidFill>
                      </a:endParaRPr>
                    </a:p>
                  </a:txBody>
                  <a:tcPr/>
                </a:tc>
                <a:tc>
                  <a:txBody>
                    <a:bodyPr/>
                    <a:lstStyle/>
                    <a:p>
                      <a:endParaRPr lang="pt-BR">
                        <a:solidFill>
                          <a:sysClr val="windowText" lastClr="000000"/>
                        </a:solidFill>
                      </a:endParaRPr>
                    </a:p>
                  </a:txBody>
                  <a:tcPr/>
                </a:tc>
                <a:tc>
                  <a:txBody>
                    <a:bodyPr/>
                    <a:lstStyle/>
                    <a:p>
                      <a:endParaRPr lang="pt-BR" dirty="0">
                        <a:solidFill>
                          <a:sysClr val="windowText" lastClr="000000"/>
                        </a:solidFill>
                      </a:endParaRPr>
                    </a:p>
                  </a:txBody>
                  <a:tcPr>
                    <a:solidFill>
                      <a:srgbClr val="FF0000"/>
                    </a:solidFill>
                  </a:tcPr>
                </a:tc>
                <a:tc>
                  <a:txBody>
                    <a:bodyPr/>
                    <a:lstStyle/>
                    <a:p>
                      <a:endParaRPr lang="pt-BR" dirty="0">
                        <a:solidFill>
                          <a:sysClr val="windowText" lastClr="000000"/>
                        </a:solidFill>
                      </a:endParaRPr>
                    </a:p>
                  </a:txBody>
                  <a:tcPr>
                    <a:lnR w="12700" cap="flat" cmpd="sng" algn="ctr">
                      <a:solidFill>
                        <a:schemeClr val="tx1"/>
                      </a:solidFill>
                      <a:prstDash val="solid"/>
                      <a:round/>
                      <a:headEnd type="none" w="med" len="med"/>
                      <a:tailEnd type="none" w="med" len="med"/>
                    </a:lnR>
                  </a:tcPr>
                </a:tc>
                <a:tc>
                  <a:txBody>
                    <a:bodyPr/>
                    <a:lstStyle/>
                    <a:p>
                      <a:endParaRPr lang="pt-BR" dirty="0">
                        <a:solidFill>
                          <a:sysClr val="windowText" lastClr="000000"/>
                        </a:solidFill>
                      </a:endParaRPr>
                    </a:p>
                  </a:txBody>
                  <a:tcPr>
                    <a:lnL w="12700" cap="flat" cmpd="sng" algn="ctr">
                      <a:solidFill>
                        <a:schemeClr val="tx1"/>
                      </a:solidFill>
                      <a:prstDash val="solid"/>
                      <a:round/>
                      <a:headEnd type="none" w="med" len="med"/>
                      <a:tailEnd type="none" w="med" len="med"/>
                    </a:lnL>
                  </a:tcPr>
                </a:tc>
                <a:tc>
                  <a:txBody>
                    <a:bodyPr/>
                    <a:lstStyle/>
                    <a:p>
                      <a:endParaRPr lang="pt-BR" dirty="0">
                        <a:solidFill>
                          <a:sysClr val="windowText" lastClr="000000"/>
                        </a:solidFill>
                      </a:endParaRPr>
                    </a:p>
                  </a:txBody>
                  <a:tcPr/>
                </a:tc>
                <a:tc>
                  <a:txBody>
                    <a:bodyPr/>
                    <a:lstStyle/>
                    <a:p>
                      <a:endParaRPr lang="pt-BR" dirty="0">
                        <a:solidFill>
                          <a:sysClr val="windowText" lastClr="000000"/>
                        </a:solidFill>
                      </a:endParaRPr>
                    </a:p>
                  </a:txBody>
                  <a:tcPr/>
                </a:tc>
                <a:tc>
                  <a:txBody>
                    <a:bodyPr/>
                    <a:lstStyle/>
                    <a:p>
                      <a:endParaRPr lang="pt-BR" dirty="0">
                        <a:solidFill>
                          <a:sysClr val="windowText" lastClr="000000"/>
                        </a:solidFill>
                      </a:endParaRPr>
                    </a:p>
                  </a:txBody>
                  <a:tcPr>
                    <a:solidFill>
                      <a:schemeClr val="tx1"/>
                    </a:solidFill>
                  </a:tcPr>
                </a:tc>
                <a:tc>
                  <a:txBody>
                    <a:bodyPr/>
                    <a:lstStyle/>
                    <a:p>
                      <a:endParaRPr lang="pt-BR" dirty="0">
                        <a:solidFill>
                          <a:sysClr val="windowText" lastClr="000000"/>
                        </a:solidFill>
                      </a:endParaRPr>
                    </a:p>
                  </a:txBody>
                  <a:tcPr>
                    <a:solidFill>
                      <a:srgbClr val="FF0000"/>
                    </a:solidFill>
                  </a:tcPr>
                </a:tc>
                <a:tc>
                  <a:txBody>
                    <a:bodyPr/>
                    <a:lstStyle/>
                    <a:p>
                      <a:endParaRPr lang="pt-BR" dirty="0">
                        <a:solidFill>
                          <a:sysClr val="windowText" lastClr="000000"/>
                        </a:solidFill>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6906896"/>
                  </a:ext>
                </a:extLst>
              </a:tr>
              <a:tr h="370840">
                <a:tc>
                  <a:txBody>
                    <a:bodyPr/>
                    <a:lstStyle/>
                    <a:p>
                      <a:r>
                        <a:rPr lang="pt-BR" dirty="0">
                          <a:solidFill>
                            <a:sysClr val="windowText" lastClr="000000"/>
                          </a:solidFill>
                        </a:rPr>
                        <a:t>Execução</a:t>
                      </a:r>
                    </a:p>
                  </a:txBody>
                  <a:tcPr>
                    <a:lnR w="12700" cap="flat" cmpd="sng" algn="ctr">
                      <a:solidFill>
                        <a:schemeClr val="tx1"/>
                      </a:solidFill>
                      <a:prstDash val="solid"/>
                      <a:round/>
                      <a:headEnd type="none" w="med" len="med"/>
                      <a:tailEnd type="none" w="med" len="med"/>
                    </a:lnR>
                  </a:tcPr>
                </a:tc>
                <a:tc>
                  <a:txBody>
                    <a:bodyPr/>
                    <a:lstStyle/>
                    <a:p>
                      <a:endParaRPr lang="pt-BR">
                        <a:solidFill>
                          <a:sysClr val="windowText" lastClr="000000"/>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endParaRPr lang="pt-BR">
                        <a:solidFill>
                          <a:sysClr val="windowText" lastClr="000000"/>
                        </a:solidFill>
                      </a:endParaRPr>
                    </a:p>
                  </a:txBody>
                  <a:tcPr>
                    <a:lnB w="12700" cap="flat" cmpd="sng" algn="ctr">
                      <a:solidFill>
                        <a:schemeClr val="tx1"/>
                      </a:solidFill>
                      <a:prstDash val="solid"/>
                      <a:round/>
                      <a:headEnd type="none" w="med" len="med"/>
                      <a:tailEnd type="none" w="med" len="med"/>
                    </a:lnB>
                  </a:tcPr>
                </a:tc>
                <a:tc>
                  <a:txBody>
                    <a:bodyPr/>
                    <a:lstStyle/>
                    <a:p>
                      <a:endParaRPr lang="pt-BR" dirty="0">
                        <a:solidFill>
                          <a:sysClr val="windowText" lastClr="000000"/>
                        </a:solidFill>
                      </a:endParaRPr>
                    </a:p>
                  </a:txBody>
                  <a:tcPr>
                    <a:lnB w="12700" cap="flat" cmpd="sng" algn="ctr">
                      <a:solidFill>
                        <a:schemeClr val="tx1"/>
                      </a:solidFill>
                      <a:prstDash val="solid"/>
                      <a:round/>
                      <a:headEnd type="none" w="med" len="med"/>
                      <a:tailEnd type="none" w="med" len="med"/>
                    </a:lnB>
                  </a:tcPr>
                </a:tc>
                <a:tc>
                  <a:txBody>
                    <a:bodyPr/>
                    <a:lstStyle/>
                    <a:p>
                      <a:endParaRPr lang="pt-BR" dirty="0">
                        <a:solidFill>
                          <a:sysClr val="windowText" lastClr="000000"/>
                        </a:solidFill>
                      </a:endParaRPr>
                    </a:p>
                  </a:txBody>
                  <a:tcPr>
                    <a:lnB w="12700" cap="flat" cmpd="sng" algn="ctr">
                      <a:solidFill>
                        <a:schemeClr val="tx1"/>
                      </a:solidFill>
                      <a:prstDash val="solid"/>
                      <a:round/>
                      <a:headEnd type="none" w="med" len="med"/>
                      <a:tailEnd type="none" w="med" len="med"/>
                    </a:lnB>
                    <a:solidFill>
                      <a:schemeClr val="tx1"/>
                    </a:solidFill>
                  </a:tcPr>
                </a:tc>
                <a:tc>
                  <a:txBody>
                    <a:bodyPr/>
                    <a:lstStyle/>
                    <a:p>
                      <a:endParaRPr lang="pt-BR" dirty="0">
                        <a:solidFill>
                          <a:sysClr val="windowText" lastClr="000000"/>
                        </a:solidFill>
                      </a:endParaRPr>
                    </a:p>
                  </a:txBody>
                  <a:tcPr>
                    <a:lnB w="12700" cap="flat" cmpd="sng" algn="ctr">
                      <a:solidFill>
                        <a:schemeClr val="tx1"/>
                      </a:solidFill>
                      <a:prstDash val="solid"/>
                      <a:round/>
                      <a:headEnd type="none" w="med" len="med"/>
                      <a:tailEnd type="none" w="med" len="med"/>
                    </a:lnB>
                  </a:tcPr>
                </a:tc>
                <a:tc>
                  <a:txBody>
                    <a:bodyPr/>
                    <a:lstStyle/>
                    <a:p>
                      <a:endParaRPr lang="pt-BR" dirty="0">
                        <a:solidFill>
                          <a:sysClr val="windowText" lastClr="000000"/>
                        </a:solidFill>
                      </a:endParaRPr>
                    </a:p>
                  </a:txBody>
                  <a:tcPr>
                    <a:lnB w="12700" cap="flat" cmpd="sng" algn="ctr">
                      <a:solidFill>
                        <a:schemeClr val="tx1"/>
                      </a:solidFill>
                      <a:prstDash val="solid"/>
                      <a:round/>
                      <a:headEnd type="none" w="med" len="med"/>
                      <a:tailEnd type="none" w="med" len="med"/>
                    </a:lnB>
                  </a:tcPr>
                </a:tc>
                <a:tc>
                  <a:txBody>
                    <a:bodyPr/>
                    <a:lstStyle/>
                    <a:p>
                      <a:endParaRPr lang="pt-BR" dirty="0">
                        <a:solidFill>
                          <a:sysClr val="windowText" lastClr="000000"/>
                        </a:solidFill>
                      </a:endParaRPr>
                    </a:p>
                  </a:txBody>
                  <a:tcPr>
                    <a:lnB w="12700" cap="flat" cmpd="sng" algn="ctr">
                      <a:solidFill>
                        <a:schemeClr val="tx1"/>
                      </a:solidFill>
                      <a:prstDash val="solid"/>
                      <a:round/>
                      <a:headEnd type="none" w="med" len="med"/>
                      <a:tailEnd type="none" w="med" len="med"/>
                    </a:lnB>
                  </a:tcPr>
                </a:tc>
                <a:tc>
                  <a:txBody>
                    <a:bodyPr/>
                    <a:lstStyle/>
                    <a:p>
                      <a:endParaRPr lang="pt-BR" dirty="0">
                        <a:solidFill>
                          <a:sysClr val="windowText" lastClr="000000"/>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0000"/>
                    </a:solidFill>
                  </a:tcPr>
                </a:tc>
                <a:tc>
                  <a:txBody>
                    <a:bodyPr/>
                    <a:lstStyle/>
                    <a:p>
                      <a:endParaRPr lang="pt-BR" dirty="0">
                        <a:solidFill>
                          <a:sysClr val="windowText" lastClr="000000"/>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endParaRPr lang="pt-BR" dirty="0">
                        <a:solidFill>
                          <a:sysClr val="windowText" lastClr="000000"/>
                        </a:solidFill>
                      </a:endParaRPr>
                    </a:p>
                  </a:txBody>
                  <a:tcPr>
                    <a:lnB w="12700" cap="flat" cmpd="sng" algn="ctr">
                      <a:solidFill>
                        <a:schemeClr val="tx1"/>
                      </a:solidFill>
                      <a:prstDash val="solid"/>
                      <a:round/>
                      <a:headEnd type="none" w="med" len="med"/>
                      <a:tailEnd type="none" w="med" len="med"/>
                    </a:lnB>
                  </a:tcPr>
                </a:tc>
                <a:tc>
                  <a:txBody>
                    <a:bodyPr/>
                    <a:lstStyle/>
                    <a:p>
                      <a:endParaRPr lang="pt-BR" dirty="0">
                        <a:solidFill>
                          <a:sysClr val="windowText" lastClr="000000"/>
                        </a:solidFill>
                      </a:endParaRPr>
                    </a:p>
                  </a:txBody>
                  <a:tcPr>
                    <a:lnB w="12700" cap="flat" cmpd="sng" algn="ctr">
                      <a:solidFill>
                        <a:schemeClr val="tx1"/>
                      </a:solidFill>
                      <a:prstDash val="solid"/>
                      <a:round/>
                      <a:headEnd type="none" w="med" len="med"/>
                      <a:tailEnd type="none" w="med" len="med"/>
                    </a:lnB>
                  </a:tcPr>
                </a:tc>
                <a:tc>
                  <a:txBody>
                    <a:bodyPr/>
                    <a:lstStyle/>
                    <a:p>
                      <a:endParaRPr lang="pt-BR" dirty="0">
                        <a:solidFill>
                          <a:sysClr val="windowText" lastClr="000000"/>
                        </a:solidFill>
                      </a:endParaRPr>
                    </a:p>
                  </a:txBody>
                  <a:tcPr>
                    <a:lnB w="12700" cap="flat" cmpd="sng" algn="ctr">
                      <a:solidFill>
                        <a:schemeClr val="tx1"/>
                      </a:solidFill>
                      <a:prstDash val="solid"/>
                      <a:round/>
                      <a:headEnd type="none" w="med" len="med"/>
                      <a:tailEnd type="none" w="med" len="med"/>
                    </a:lnB>
                  </a:tcPr>
                </a:tc>
                <a:tc>
                  <a:txBody>
                    <a:bodyPr/>
                    <a:lstStyle/>
                    <a:p>
                      <a:endParaRPr lang="pt-BR" dirty="0">
                        <a:solidFill>
                          <a:sysClr val="windowText" lastClr="000000"/>
                        </a:solidFill>
                      </a:endParaRPr>
                    </a:p>
                  </a:txBody>
                  <a:tcPr>
                    <a:lnB w="12700" cap="flat" cmpd="sng" algn="ctr">
                      <a:solidFill>
                        <a:schemeClr val="tx1"/>
                      </a:solidFill>
                      <a:prstDash val="solid"/>
                      <a:round/>
                      <a:headEnd type="none" w="med" len="med"/>
                      <a:tailEnd type="none" w="med" len="med"/>
                    </a:lnB>
                    <a:solidFill>
                      <a:schemeClr val="tx1"/>
                    </a:solidFill>
                  </a:tcPr>
                </a:tc>
                <a:tc>
                  <a:txBody>
                    <a:bodyPr/>
                    <a:lstStyle/>
                    <a:p>
                      <a:endParaRPr lang="pt-BR" dirty="0">
                        <a:solidFill>
                          <a:sysClr val="windowText" lastClr="000000"/>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045686423"/>
                  </a:ext>
                </a:extLst>
              </a:tr>
            </a:tbl>
          </a:graphicData>
        </a:graphic>
      </p:graphicFrame>
      <p:sp>
        <p:nvSpPr>
          <p:cNvPr id="4" name="Espaço Reservado para Número de Slide 3">
            <a:extLst>
              <a:ext uri="{FF2B5EF4-FFF2-40B4-BE49-F238E27FC236}">
                <a16:creationId xmlns:a16="http://schemas.microsoft.com/office/drawing/2014/main" id="{41A30766-3A53-1D96-500D-92DA0D7F523D}"/>
              </a:ext>
            </a:extLst>
          </p:cNvPr>
          <p:cNvSpPr>
            <a:spLocks noGrp="1"/>
          </p:cNvSpPr>
          <p:nvPr>
            <p:ph type="sldNum" sz="quarter" idx="12"/>
          </p:nvPr>
        </p:nvSpPr>
        <p:spPr/>
        <p:txBody>
          <a:bodyPr/>
          <a:lstStyle/>
          <a:p>
            <a:fld id="{889E4DDB-AB51-4EFC-ADEE-1042DB8CA710}" type="slidenum">
              <a:rPr lang="pt-BR" smtClean="0"/>
              <a:t>4</a:t>
            </a:fld>
            <a:endParaRPr lang="pt-BR"/>
          </a:p>
        </p:txBody>
      </p:sp>
    </p:spTree>
    <p:extLst>
      <p:ext uri="{BB962C8B-B14F-4D97-AF65-F5344CB8AC3E}">
        <p14:creationId xmlns:p14="http://schemas.microsoft.com/office/powerpoint/2010/main" val="3906077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135D49-E88A-234D-82DF-89560BC548A2}"/>
              </a:ext>
            </a:extLst>
          </p:cNvPr>
          <p:cNvSpPr>
            <a:spLocks noGrp="1"/>
          </p:cNvSpPr>
          <p:nvPr>
            <p:ph type="title"/>
          </p:nvPr>
        </p:nvSpPr>
        <p:spPr>
          <a:xfrm>
            <a:off x="1847851" y="214325"/>
            <a:ext cx="10258424" cy="1325563"/>
          </a:xfrm>
        </p:spPr>
        <p:txBody>
          <a:bodyPr/>
          <a:lstStyle/>
          <a:p>
            <a:r>
              <a:rPr lang="pt-BR" dirty="0"/>
              <a:t>Curiosidade</a:t>
            </a:r>
          </a:p>
        </p:txBody>
      </p:sp>
      <p:sp>
        <p:nvSpPr>
          <p:cNvPr id="3" name="Espaço Reservado para Conteúdo 2">
            <a:extLst>
              <a:ext uri="{FF2B5EF4-FFF2-40B4-BE49-F238E27FC236}">
                <a16:creationId xmlns:a16="http://schemas.microsoft.com/office/drawing/2014/main" id="{04113E1A-B09E-A4BD-99B8-5F8F00075942}"/>
              </a:ext>
            </a:extLst>
          </p:cNvPr>
          <p:cNvSpPr>
            <a:spLocks noGrp="1"/>
          </p:cNvSpPr>
          <p:nvPr>
            <p:ph idx="1"/>
          </p:nvPr>
        </p:nvSpPr>
        <p:spPr>
          <a:xfrm>
            <a:off x="85163" y="1825624"/>
            <a:ext cx="12021104" cy="4542805"/>
          </a:xfrm>
        </p:spPr>
        <p:txBody>
          <a:bodyPr/>
          <a:lstStyle/>
          <a:p>
            <a:r>
              <a:rPr lang="pt-BR" dirty="0"/>
              <a:t>O </a:t>
            </a:r>
            <a:r>
              <a:rPr lang="pt-BR" b="1" dirty="0">
                <a:solidFill>
                  <a:srgbClr val="000050"/>
                </a:solidFill>
              </a:rPr>
              <a:t>Windows NT </a:t>
            </a:r>
            <a:r>
              <a:rPr lang="pt-BR" dirty="0"/>
              <a:t>é o primeiro sistema operacional da Microsoft com capacidade de multiprogramação. </a:t>
            </a:r>
          </a:p>
          <a:p>
            <a:r>
              <a:rPr lang="pt-BR" b="1" dirty="0">
                <a:solidFill>
                  <a:srgbClr val="000050"/>
                </a:solidFill>
              </a:rPr>
              <a:t>Windows 95 </a:t>
            </a:r>
            <a:r>
              <a:rPr lang="pt-BR" dirty="0"/>
              <a:t>e </a:t>
            </a:r>
            <a:r>
              <a:rPr lang="pt-BR" b="1" dirty="0">
                <a:solidFill>
                  <a:srgbClr val="000050"/>
                </a:solidFill>
              </a:rPr>
              <a:t>Windows 98 </a:t>
            </a:r>
            <a:r>
              <a:rPr lang="pt-BR" dirty="0"/>
              <a:t>fazem uma emulação de multiprogramação.</a:t>
            </a:r>
          </a:p>
        </p:txBody>
      </p:sp>
      <p:sp>
        <p:nvSpPr>
          <p:cNvPr id="6" name="Espaço Reservado para Número de Slide 5">
            <a:extLst>
              <a:ext uri="{FF2B5EF4-FFF2-40B4-BE49-F238E27FC236}">
                <a16:creationId xmlns:a16="http://schemas.microsoft.com/office/drawing/2014/main" id="{23CE623D-0274-77BF-E0A9-167E3D750967}"/>
              </a:ext>
            </a:extLst>
          </p:cNvPr>
          <p:cNvSpPr>
            <a:spLocks noGrp="1"/>
          </p:cNvSpPr>
          <p:nvPr>
            <p:ph type="sldNum" sz="quarter" idx="12"/>
          </p:nvPr>
        </p:nvSpPr>
        <p:spPr>
          <a:xfrm>
            <a:off x="11112000" y="6607818"/>
            <a:ext cx="720000" cy="216000"/>
          </a:xfrm>
        </p:spPr>
        <p:txBody>
          <a:bodyPr/>
          <a:lstStyle/>
          <a:p>
            <a:fld id="{889E4DDB-AB51-4EFC-ADEE-1042DB8CA710}" type="slidenum">
              <a:rPr lang="pt-BR" smtClean="0"/>
              <a:pPr/>
              <a:t>5</a:t>
            </a:fld>
            <a:endParaRPr lang="pt-BR"/>
          </a:p>
        </p:txBody>
      </p:sp>
      <p:pic>
        <p:nvPicPr>
          <p:cNvPr id="1032" name="Picture 8" descr="Windows 98 – Wikipédia, a enciclopédia livre">
            <a:extLst>
              <a:ext uri="{FF2B5EF4-FFF2-40B4-BE49-F238E27FC236}">
                <a16:creationId xmlns:a16="http://schemas.microsoft.com/office/drawing/2014/main" id="{BA2045D9-285B-E27C-C837-1E29C53940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7063" y="3121891"/>
            <a:ext cx="4647903" cy="348592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Windows 95 – Wikipédia, a enciclopédia livre">
            <a:extLst>
              <a:ext uri="{FF2B5EF4-FFF2-40B4-BE49-F238E27FC236}">
                <a16:creationId xmlns:a16="http://schemas.microsoft.com/office/drawing/2014/main" id="{CD5BCD55-F023-F787-8434-3FAB8CF862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218" y="3283612"/>
            <a:ext cx="4385691" cy="3289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9103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D15C3D-1909-A395-B836-43788E975171}"/>
              </a:ext>
            </a:extLst>
          </p:cNvPr>
          <p:cNvSpPr>
            <a:spLocks noGrp="1"/>
          </p:cNvSpPr>
          <p:nvPr>
            <p:ph type="title"/>
          </p:nvPr>
        </p:nvSpPr>
        <p:spPr/>
        <p:txBody>
          <a:bodyPr>
            <a:normAutofit/>
          </a:bodyPr>
          <a:lstStyle/>
          <a:p>
            <a:r>
              <a:rPr lang="pt-BR" sz="4000" dirty="0"/>
              <a:t>Sistema</a:t>
            </a:r>
            <a:br>
              <a:rPr lang="pt-BR" sz="4000" dirty="0"/>
            </a:br>
            <a:r>
              <a:rPr lang="pt-BR" sz="4000" dirty="0"/>
              <a:t>Monolítica x Em camada x </a:t>
            </a:r>
            <a:r>
              <a:rPr lang="pt-BR" sz="4000" dirty="0" err="1"/>
              <a:t>Micro-núcleo</a:t>
            </a:r>
            <a:endParaRPr lang="pt-BR" sz="4000" dirty="0"/>
          </a:p>
        </p:txBody>
      </p:sp>
      <p:sp>
        <p:nvSpPr>
          <p:cNvPr id="7" name="Espaço Reservado para Texto 6">
            <a:extLst>
              <a:ext uri="{FF2B5EF4-FFF2-40B4-BE49-F238E27FC236}">
                <a16:creationId xmlns:a16="http://schemas.microsoft.com/office/drawing/2014/main" id="{E2046F36-22B1-516E-EC0C-5BE74E2B3CD1}"/>
              </a:ext>
            </a:extLst>
          </p:cNvPr>
          <p:cNvSpPr>
            <a:spLocks noGrp="1"/>
          </p:cNvSpPr>
          <p:nvPr>
            <p:ph type="body" idx="1"/>
          </p:nvPr>
        </p:nvSpPr>
        <p:spPr/>
        <p:txBody>
          <a:bodyPr/>
          <a:lstStyle/>
          <a:p>
            <a:endParaRPr lang="pt-BR" dirty="0"/>
          </a:p>
        </p:txBody>
      </p:sp>
      <p:sp>
        <p:nvSpPr>
          <p:cNvPr id="6" name="Espaço Reservado para Número de Slide 5">
            <a:extLst>
              <a:ext uri="{FF2B5EF4-FFF2-40B4-BE49-F238E27FC236}">
                <a16:creationId xmlns:a16="http://schemas.microsoft.com/office/drawing/2014/main" id="{1AEF19D6-2D29-D7ED-3A4D-70E8E4624213}"/>
              </a:ext>
            </a:extLst>
          </p:cNvPr>
          <p:cNvSpPr>
            <a:spLocks noGrp="1"/>
          </p:cNvSpPr>
          <p:nvPr>
            <p:ph type="sldNum" sz="quarter" idx="12"/>
          </p:nvPr>
        </p:nvSpPr>
        <p:spPr/>
        <p:txBody>
          <a:bodyPr/>
          <a:lstStyle/>
          <a:p>
            <a:fld id="{889E4DDB-AB51-4EFC-ADEE-1042DB8CA710}" type="slidenum">
              <a:rPr lang="pt-BR" smtClean="0"/>
              <a:t>6</a:t>
            </a:fld>
            <a:endParaRPr lang="pt-BR"/>
          </a:p>
        </p:txBody>
      </p:sp>
    </p:spTree>
    <p:extLst>
      <p:ext uri="{BB962C8B-B14F-4D97-AF65-F5344CB8AC3E}">
        <p14:creationId xmlns:p14="http://schemas.microsoft.com/office/powerpoint/2010/main" val="1326170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E33865-CE72-6BCC-8D8E-CFC17A845D56}"/>
              </a:ext>
            </a:extLst>
          </p:cNvPr>
          <p:cNvSpPr>
            <a:spLocks noGrp="1"/>
          </p:cNvSpPr>
          <p:nvPr>
            <p:ph type="title"/>
          </p:nvPr>
        </p:nvSpPr>
        <p:spPr/>
        <p:txBody>
          <a:bodyPr/>
          <a:lstStyle/>
          <a:p>
            <a:r>
              <a:rPr lang="pt-BR" dirty="0"/>
              <a:t>Típica chamada de sistema</a:t>
            </a:r>
          </a:p>
        </p:txBody>
      </p:sp>
      <p:sp>
        <p:nvSpPr>
          <p:cNvPr id="6" name="Espaço Reservado para Número de Slide 5">
            <a:extLst>
              <a:ext uri="{FF2B5EF4-FFF2-40B4-BE49-F238E27FC236}">
                <a16:creationId xmlns:a16="http://schemas.microsoft.com/office/drawing/2014/main" id="{B2B587B4-4AE2-347C-793E-554ADA5D3D4B}"/>
              </a:ext>
            </a:extLst>
          </p:cNvPr>
          <p:cNvSpPr>
            <a:spLocks noGrp="1"/>
          </p:cNvSpPr>
          <p:nvPr>
            <p:ph type="sldNum" sz="quarter" idx="12"/>
          </p:nvPr>
        </p:nvSpPr>
        <p:spPr/>
        <p:txBody>
          <a:bodyPr/>
          <a:lstStyle/>
          <a:p>
            <a:fld id="{889E4DDB-AB51-4EFC-ADEE-1042DB8CA710}" type="slidenum">
              <a:rPr lang="pt-BR" smtClean="0"/>
              <a:t>7</a:t>
            </a:fld>
            <a:endParaRPr lang="pt-BR"/>
          </a:p>
        </p:txBody>
      </p:sp>
      <p:pic>
        <p:nvPicPr>
          <p:cNvPr id="8" name="Imagem 7">
            <a:extLst>
              <a:ext uri="{FF2B5EF4-FFF2-40B4-BE49-F238E27FC236}">
                <a16:creationId xmlns:a16="http://schemas.microsoft.com/office/drawing/2014/main" id="{8D297DB2-EE53-1CAF-29A0-56E76CF9FF22}"/>
              </a:ext>
            </a:extLst>
          </p:cNvPr>
          <p:cNvPicPr>
            <a:picLocks noChangeAspect="1"/>
          </p:cNvPicPr>
          <p:nvPr/>
        </p:nvPicPr>
        <p:blipFill>
          <a:blip r:embed="rId2"/>
          <a:stretch>
            <a:fillRect/>
          </a:stretch>
        </p:blipFill>
        <p:spPr>
          <a:xfrm>
            <a:off x="2369310" y="1378779"/>
            <a:ext cx="7453380" cy="5014843"/>
          </a:xfrm>
          <a:prstGeom prst="rect">
            <a:avLst/>
          </a:prstGeom>
        </p:spPr>
      </p:pic>
      <p:pic>
        <p:nvPicPr>
          <p:cNvPr id="10" name="Picture 2" descr="Flork PNG 057">
            <a:extLst>
              <a:ext uri="{FF2B5EF4-FFF2-40B4-BE49-F238E27FC236}">
                <a16:creationId xmlns:a16="http://schemas.microsoft.com/office/drawing/2014/main" id="{02492C8B-5AD5-0697-C93F-2CD126C1A8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5" y="5455764"/>
            <a:ext cx="720000" cy="996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6232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3A0A7A-791F-455B-E7DA-8B21B4C0E48B}"/>
              </a:ext>
            </a:extLst>
          </p:cNvPr>
          <p:cNvSpPr>
            <a:spLocks noGrp="1"/>
          </p:cNvSpPr>
          <p:nvPr>
            <p:ph type="title"/>
          </p:nvPr>
        </p:nvSpPr>
        <p:spPr/>
        <p:txBody>
          <a:bodyPr/>
          <a:lstStyle/>
          <a:p>
            <a:r>
              <a:rPr lang="pt-BR" dirty="0"/>
              <a:t>Sistemas monolíticos</a:t>
            </a:r>
          </a:p>
        </p:txBody>
      </p:sp>
      <p:graphicFrame>
        <p:nvGraphicFramePr>
          <p:cNvPr id="7" name="Espaço Reservado para Conteúdo 6">
            <a:extLst>
              <a:ext uri="{FF2B5EF4-FFF2-40B4-BE49-F238E27FC236}">
                <a16:creationId xmlns:a16="http://schemas.microsoft.com/office/drawing/2014/main" id="{D709C48F-5412-5BAC-40A4-53930D8A09EF}"/>
              </a:ext>
            </a:extLst>
          </p:cNvPr>
          <p:cNvGraphicFramePr>
            <a:graphicFrameLocks noGrp="1"/>
          </p:cNvGraphicFramePr>
          <p:nvPr>
            <p:ph idx="1"/>
            <p:extLst>
              <p:ext uri="{D42A27DB-BD31-4B8C-83A1-F6EECF244321}">
                <p14:modId xmlns:p14="http://schemas.microsoft.com/office/powerpoint/2010/main" val="4276668047"/>
              </p:ext>
            </p:extLst>
          </p:nvPr>
        </p:nvGraphicFramePr>
        <p:xfrm>
          <a:off x="85163" y="1825625"/>
          <a:ext cx="12021104" cy="13255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Espaço Reservado para Número de Slide 5">
            <a:extLst>
              <a:ext uri="{FF2B5EF4-FFF2-40B4-BE49-F238E27FC236}">
                <a16:creationId xmlns:a16="http://schemas.microsoft.com/office/drawing/2014/main" id="{5F0E5A1C-DF71-B17B-FB4F-17BF27302335}"/>
              </a:ext>
            </a:extLst>
          </p:cNvPr>
          <p:cNvSpPr>
            <a:spLocks noGrp="1"/>
          </p:cNvSpPr>
          <p:nvPr>
            <p:ph type="sldNum" sz="quarter" idx="12"/>
          </p:nvPr>
        </p:nvSpPr>
        <p:spPr/>
        <p:txBody>
          <a:bodyPr/>
          <a:lstStyle/>
          <a:p>
            <a:fld id="{889E4DDB-AB51-4EFC-ADEE-1042DB8CA710}" type="slidenum">
              <a:rPr lang="pt-BR" smtClean="0"/>
              <a:t>8</a:t>
            </a:fld>
            <a:endParaRPr lang="pt-BR"/>
          </a:p>
        </p:txBody>
      </p:sp>
      <p:pic>
        <p:nvPicPr>
          <p:cNvPr id="9" name="Imagem 8">
            <a:extLst>
              <a:ext uri="{FF2B5EF4-FFF2-40B4-BE49-F238E27FC236}">
                <a16:creationId xmlns:a16="http://schemas.microsoft.com/office/drawing/2014/main" id="{57BABB14-EA90-8062-A1AA-FA6C44DD3947}"/>
              </a:ext>
            </a:extLst>
          </p:cNvPr>
          <p:cNvPicPr>
            <a:picLocks noChangeAspect="1"/>
          </p:cNvPicPr>
          <p:nvPr/>
        </p:nvPicPr>
        <p:blipFill>
          <a:blip r:embed="rId7"/>
          <a:stretch>
            <a:fillRect/>
          </a:stretch>
        </p:blipFill>
        <p:spPr>
          <a:xfrm>
            <a:off x="2509105" y="3174498"/>
            <a:ext cx="7173219" cy="3270691"/>
          </a:xfrm>
          <a:prstGeom prst="rect">
            <a:avLst/>
          </a:prstGeom>
        </p:spPr>
      </p:pic>
      <p:pic>
        <p:nvPicPr>
          <p:cNvPr id="10" name="Imagem 9">
            <a:extLst>
              <a:ext uri="{FF2B5EF4-FFF2-40B4-BE49-F238E27FC236}">
                <a16:creationId xmlns:a16="http://schemas.microsoft.com/office/drawing/2014/main" id="{47B984FC-7587-4BA5-9770-472D51B91B63}"/>
              </a:ext>
            </a:extLst>
          </p:cNvPr>
          <p:cNvPicPr>
            <a:picLocks noChangeAspect="1"/>
          </p:cNvPicPr>
          <p:nvPr/>
        </p:nvPicPr>
        <p:blipFill>
          <a:blip r:embed="rId8"/>
          <a:stretch>
            <a:fillRect/>
          </a:stretch>
        </p:blipFill>
        <p:spPr>
          <a:xfrm>
            <a:off x="11472000" y="5538206"/>
            <a:ext cx="720000" cy="914482"/>
          </a:xfrm>
          <a:prstGeom prst="rect">
            <a:avLst/>
          </a:prstGeom>
        </p:spPr>
      </p:pic>
    </p:spTree>
    <p:extLst>
      <p:ext uri="{BB962C8B-B14F-4D97-AF65-F5344CB8AC3E}">
        <p14:creationId xmlns:p14="http://schemas.microsoft.com/office/powerpoint/2010/main" val="2123677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059548-EADE-CD43-284D-633CB25C7783}"/>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E1F5A99D-8679-AECD-ED0E-ECD951F47776}"/>
              </a:ext>
            </a:extLst>
          </p:cNvPr>
          <p:cNvSpPr>
            <a:spLocks noGrp="1"/>
          </p:cNvSpPr>
          <p:nvPr>
            <p:ph idx="1"/>
          </p:nvPr>
        </p:nvSpPr>
        <p:spPr/>
        <p:txBody>
          <a:bodyPr/>
          <a:lstStyle/>
          <a:p>
            <a:r>
              <a:rPr lang="pt-BR" dirty="0"/>
              <a:t>A grande vantagem dessa arquitetura é seu desempenho: qualquer componente do núcleo pode acessar os demais componentes, toda a memória ou mesmo dispositivos periféricos diretamente, pois não há barreiras impedindo esse acesso. A interação direta entre componentes também leva a sistemas mais compactos.</a:t>
            </a:r>
          </a:p>
          <a:p>
            <a:r>
              <a:rPr lang="pt-BR" dirty="0"/>
              <a:t>A arquitetura monolítica pode pagar um preço elevado por seu desempenho: a robustez e a facilidade de desenvolvimento. Caso um componente do núcleo perca o controle devido a algum erro, esse problema pode se alastrar rapidamente por todo o núcleo, levando o sistema ao colapso (travamento, reinicialização ou funcionamento errado). Além disso, a manutenção e evolução do núcleo se tornam mais complexas, porque as dependências e pontos de interação entre os componentes podem não ser evidentes: pequenas alterações na estrutura de dados de um componente podem ter um impacto inesperado em outros componentes, caso estes acessem aquela estrutura diretamente. </a:t>
            </a:r>
          </a:p>
        </p:txBody>
      </p:sp>
      <p:sp>
        <p:nvSpPr>
          <p:cNvPr id="6" name="Espaço Reservado para Número de Slide 5">
            <a:extLst>
              <a:ext uri="{FF2B5EF4-FFF2-40B4-BE49-F238E27FC236}">
                <a16:creationId xmlns:a16="http://schemas.microsoft.com/office/drawing/2014/main" id="{3B48A584-94C7-C4FB-AC7B-E531D34D51EA}"/>
              </a:ext>
            </a:extLst>
          </p:cNvPr>
          <p:cNvSpPr>
            <a:spLocks noGrp="1"/>
          </p:cNvSpPr>
          <p:nvPr>
            <p:ph type="sldNum" sz="quarter" idx="12"/>
          </p:nvPr>
        </p:nvSpPr>
        <p:spPr/>
        <p:txBody>
          <a:bodyPr/>
          <a:lstStyle/>
          <a:p>
            <a:fld id="{889E4DDB-AB51-4EFC-ADEE-1042DB8CA710}" type="slidenum">
              <a:rPr lang="pt-BR" smtClean="0"/>
              <a:t>9</a:t>
            </a:fld>
            <a:endParaRPr lang="pt-BR"/>
          </a:p>
        </p:txBody>
      </p:sp>
    </p:spTree>
    <p:extLst>
      <p:ext uri="{BB962C8B-B14F-4D97-AF65-F5344CB8AC3E}">
        <p14:creationId xmlns:p14="http://schemas.microsoft.com/office/powerpoint/2010/main" val="4031759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0EDC8B20-AF73-B5A5-B136-18C76D00B5A2}"/>
              </a:ext>
            </a:extLst>
          </p:cNvPr>
          <p:cNvSpPr>
            <a:spLocks noGrp="1"/>
          </p:cNvSpPr>
          <p:nvPr>
            <p:ph type="title"/>
          </p:nvPr>
        </p:nvSpPr>
        <p:spPr/>
        <p:txBody>
          <a:bodyPr/>
          <a:lstStyle/>
          <a:p>
            <a:r>
              <a:rPr lang="pt-BR" dirty="0"/>
              <a:t>Sistemas monolíticos</a:t>
            </a:r>
          </a:p>
        </p:txBody>
      </p:sp>
      <p:sp>
        <p:nvSpPr>
          <p:cNvPr id="8" name="Espaço Reservado para Texto 7">
            <a:extLst>
              <a:ext uri="{FF2B5EF4-FFF2-40B4-BE49-F238E27FC236}">
                <a16:creationId xmlns:a16="http://schemas.microsoft.com/office/drawing/2014/main" id="{840EB086-E0D9-A781-7EE5-E7ACA2301E31}"/>
              </a:ext>
            </a:extLst>
          </p:cNvPr>
          <p:cNvSpPr>
            <a:spLocks noGrp="1"/>
          </p:cNvSpPr>
          <p:nvPr>
            <p:ph type="body" idx="1"/>
          </p:nvPr>
        </p:nvSpPr>
        <p:spPr/>
        <p:txBody>
          <a:bodyPr/>
          <a:lstStyle/>
          <a:p>
            <a:r>
              <a:rPr lang="pt-BR" dirty="0"/>
              <a:t>Antes</a:t>
            </a:r>
          </a:p>
        </p:txBody>
      </p:sp>
      <p:sp>
        <p:nvSpPr>
          <p:cNvPr id="3" name="Espaço Reservado para Conteúdo 2">
            <a:extLst>
              <a:ext uri="{FF2B5EF4-FFF2-40B4-BE49-F238E27FC236}">
                <a16:creationId xmlns:a16="http://schemas.microsoft.com/office/drawing/2014/main" id="{B6004F56-05BE-D4AE-5D86-9CD7B895CBFB}"/>
              </a:ext>
            </a:extLst>
          </p:cNvPr>
          <p:cNvSpPr>
            <a:spLocks noGrp="1"/>
          </p:cNvSpPr>
          <p:nvPr>
            <p:ph sz="half" idx="2"/>
          </p:nvPr>
        </p:nvSpPr>
        <p:spPr/>
        <p:txBody>
          <a:bodyPr>
            <a:normAutofit/>
          </a:bodyPr>
          <a:lstStyle/>
          <a:p>
            <a:r>
              <a:rPr lang="pt-BR" dirty="0"/>
              <a:t>A arquitetura monolítica foi a primeira forma de organizar os sistemas operacionais;</a:t>
            </a:r>
          </a:p>
          <a:p>
            <a:pPr lvl="1"/>
            <a:r>
              <a:rPr lang="pt-BR" dirty="0" err="1"/>
              <a:t>Ex</a:t>
            </a:r>
            <a:r>
              <a:rPr lang="pt-BR" dirty="0"/>
              <a:t>:</a:t>
            </a:r>
          </a:p>
          <a:p>
            <a:pPr lvl="2"/>
            <a:r>
              <a:rPr lang="pt-BR" dirty="0"/>
              <a:t>Sistemas UNIX antigos e o MS-DOS seguiam esse modelo. </a:t>
            </a:r>
          </a:p>
        </p:txBody>
      </p:sp>
      <p:sp>
        <p:nvSpPr>
          <p:cNvPr id="9" name="Espaço Reservado para Texto 8">
            <a:extLst>
              <a:ext uri="{FF2B5EF4-FFF2-40B4-BE49-F238E27FC236}">
                <a16:creationId xmlns:a16="http://schemas.microsoft.com/office/drawing/2014/main" id="{B4D72176-C0E0-3056-DE52-F878B31FDE12}"/>
              </a:ext>
            </a:extLst>
          </p:cNvPr>
          <p:cNvSpPr>
            <a:spLocks noGrp="1"/>
          </p:cNvSpPr>
          <p:nvPr>
            <p:ph type="body" sz="quarter" idx="3"/>
          </p:nvPr>
        </p:nvSpPr>
        <p:spPr/>
        <p:txBody>
          <a:bodyPr/>
          <a:lstStyle/>
          <a:p>
            <a:r>
              <a:rPr lang="pt-BR" dirty="0"/>
              <a:t>Agora</a:t>
            </a:r>
          </a:p>
        </p:txBody>
      </p:sp>
      <p:sp>
        <p:nvSpPr>
          <p:cNvPr id="10" name="Espaço Reservado para Conteúdo 9">
            <a:extLst>
              <a:ext uri="{FF2B5EF4-FFF2-40B4-BE49-F238E27FC236}">
                <a16:creationId xmlns:a16="http://schemas.microsoft.com/office/drawing/2014/main" id="{A8625091-307D-0857-E44D-C74E882CF72C}"/>
              </a:ext>
            </a:extLst>
          </p:cNvPr>
          <p:cNvSpPr>
            <a:spLocks noGrp="1"/>
          </p:cNvSpPr>
          <p:nvPr>
            <p:ph sz="quarter" idx="4"/>
          </p:nvPr>
        </p:nvSpPr>
        <p:spPr/>
        <p:txBody>
          <a:bodyPr>
            <a:normAutofit/>
          </a:bodyPr>
          <a:lstStyle/>
          <a:p>
            <a:r>
              <a:rPr lang="pt-BR" dirty="0"/>
              <a:t>Apenas sistemas operacionais embarcados usam essa arquitetura, devido às limitações do hardware sobre o qual executam. </a:t>
            </a:r>
          </a:p>
          <a:p>
            <a:r>
              <a:rPr lang="pt-BR" dirty="0"/>
              <a:t>O núcleo do Linux nasceu monolítico, mas vem sendo gradativamente estruturado e modularizado desde a versão 2.0 </a:t>
            </a:r>
            <a:r>
              <a:rPr lang="pt-BR" dirty="0">
                <a:solidFill>
                  <a:srgbClr val="FF0000"/>
                </a:solidFill>
              </a:rPr>
              <a:t>(embora boa parte de seu código ainda permaneça no nível de núcleo). </a:t>
            </a:r>
          </a:p>
          <a:p>
            <a:endParaRPr lang="pt-BR" dirty="0"/>
          </a:p>
        </p:txBody>
      </p:sp>
      <p:sp>
        <p:nvSpPr>
          <p:cNvPr id="6" name="Espaço Reservado para Número de Slide 5">
            <a:extLst>
              <a:ext uri="{FF2B5EF4-FFF2-40B4-BE49-F238E27FC236}">
                <a16:creationId xmlns:a16="http://schemas.microsoft.com/office/drawing/2014/main" id="{EA8FAD05-5804-7C02-1F3A-23B9AB1E5AD8}"/>
              </a:ext>
            </a:extLst>
          </p:cNvPr>
          <p:cNvSpPr>
            <a:spLocks noGrp="1"/>
          </p:cNvSpPr>
          <p:nvPr>
            <p:ph type="sldNum" sz="quarter" idx="12"/>
          </p:nvPr>
        </p:nvSpPr>
        <p:spPr/>
        <p:txBody>
          <a:bodyPr/>
          <a:lstStyle/>
          <a:p>
            <a:fld id="{889E4DDB-AB51-4EFC-ADEE-1042DB8CA710}" type="slidenum">
              <a:rPr lang="pt-BR" smtClean="0"/>
              <a:t>10</a:t>
            </a:fld>
            <a:endParaRPr lang="pt-BR"/>
          </a:p>
        </p:txBody>
      </p:sp>
    </p:spTree>
    <p:extLst>
      <p:ext uri="{BB962C8B-B14F-4D97-AF65-F5344CB8AC3E}">
        <p14:creationId xmlns:p14="http://schemas.microsoft.com/office/powerpoint/2010/main" val="2303176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794943-2674-ADCF-6BD8-A252574E7647}"/>
              </a:ext>
            </a:extLst>
          </p:cNvPr>
          <p:cNvSpPr>
            <a:spLocks noGrp="1"/>
          </p:cNvSpPr>
          <p:nvPr>
            <p:ph type="title"/>
          </p:nvPr>
        </p:nvSpPr>
        <p:spPr/>
        <p:txBody>
          <a:bodyPr/>
          <a:lstStyle/>
          <a:p>
            <a:r>
              <a:rPr lang="pt-BR" dirty="0"/>
              <a:t>Sistemas em camadas</a:t>
            </a:r>
          </a:p>
        </p:txBody>
      </p:sp>
      <p:sp>
        <p:nvSpPr>
          <p:cNvPr id="3" name="Espaço Reservado para Conteúdo 2">
            <a:extLst>
              <a:ext uri="{FF2B5EF4-FFF2-40B4-BE49-F238E27FC236}">
                <a16:creationId xmlns:a16="http://schemas.microsoft.com/office/drawing/2014/main" id="{2A6A134B-05DD-C84A-9DA5-8C1AFC828F47}"/>
              </a:ext>
            </a:extLst>
          </p:cNvPr>
          <p:cNvSpPr>
            <a:spLocks noGrp="1"/>
          </p:cNvSpPr>
          <p:nvPr>
            <p:ph idx="1"/>
          </p:nvPr>
        </p:nvSpPr>
        <p:spPr/>
        <p:txBody>
          <a:bodyPr/>
          <a:lstStyle/>
          <a:p>
            <a:r>
              <a:rPr lang="pt-BR" dirty="0"/>
              <a:t>Noção de camadas: </a:t>
            </a:r>
          </a:p>
          <a:p>
            <a:pPr lvl="1"/>
            <a:r>
              <a:rPr lang="pt-BR" dirty="0"/>
              <a:t>A camada mais baixa realiza a interface com o hardware;</a:t>
            </a:r>
          </a:p>
          <a:p>
            <a:pPr lvl="1"/>
            <a:r>
              <a:rPr lang="pt-BR" dirty="0"/>
              <a:t>As camadas intermediárias proveem níveis de abstração e gerência cada vez mais sofisticados;</a:t>
            </a:r>
          </a:p>
          <a:p>
            <a:pPr lvl="1"/>
            <a:r>
              <a:rPr lang="pt-BR" dirty="0"/>
              <a:t>A camada superior define a interface do núcleo para as aplicações (as chamadas de sistema);</a:t>
            </a:r>
          </a:p>
        </p:txBody>
      </p:sp>
      <p:sp>
        <p:nvSpPr>
          <p:cNvPr id="6" name="Espaço Reservado para Número de Slide 5">
            <a:extLst>
              <a:ext uri="{FF2B5EF4-FFF2-40B4-BE49-F238E27FC236}">
                <a16:creationId xmlns:a16="http://schemas.microsoft.com/office/drawing/2014/main" id="{5105882B-4F83-460A-1962-0B8AC7F83941}"/>
              </a:ext>
            </a:extLst>
          </p:cNvPr>
          <p:cNvSpPr>
            <a:spLocks noGrp="1"/>
          </p:cNvSpPr>
          <p:nvPr>
            <p:ph type="sldNum" sz="quarter" idx="12"/>
          </p:nvPr>
        </p:nvSpPr>
        <p:spPr/>
        <p:txBody>
          <a:bodyPr/>
          <a:lstStyle/>
          <a:p>
            <a:fld id="{889E4DDB-AB51-4EFC-ADEE-1042DB8CA710}" type="slidenum">
              <a:rPr lang="pt-BR" smtClean="0"/>
              <a:t>11</a:t>
            </a:fld>
            <a:endParaRPr lang="pt-BR"/>
          </a:p>
        </p:txBody>
      </p:sp>
      <p:grpSp>
        <p:nvGrpSpPr>
          <p:cNvPr id="26" name="Agrupar 25">
            <a:extLst>
              <a:ext uri="{FF2B5EF4-FFF2-40B4-BE49-F238E27FC236}">
                <a16:creationId xmlns:a16="http://schemas.microsoft.com/office/drawing/2014/main" id="{9CF1F740-74C4-89FD-40B1-C664C95CB519}"/>
              </a:ext>
            </a:extLst>
          </p:cNvPr>
          <p:cNvGrpSpPr/>
          <p:nvPr/>
        </p:nvGrpSpPr>
        <p:grpSpPr>
          <a:xfrm>
            <a:off x="4062872" y="3429000"/>
            <a:ext cx="4090528" cy="2693341"/>
            <a:chOff x="692292" y="3429000"/>
            <a:chExt cx="4090528" cy="2693341"/>
          </a:xfrm>
        </p:grpSpPr>
        <p:pic>
          <p:nvPicPr>
            <p:cNvPr id="8" name="Imagem 7">
              <a:extLst>
                <a:ext uri="{FF2B5EF4-FFF2-40B4-BE49-F238E27FC236}">
                  <a16:creationId xmlns:a16="http://schemas.microsoft.com/office/drawing/2014/main" id="{F3D558E0-2185-B0DE-AF9B-E4BD20812881}"/>
                </a:ext>
              </a:extLst>
            </p:cNvPr>
            <p:cNvPicPr>
              <a:picLocks noChangeAspect="1"/>
            </p:cNvPicPr>
            <p:nvPr/>
          </p:nvPicPr>
          <p:blipFill>
            <a:blip r:embed="rId2"/>
            <a:stretch>
              <a:fillRect/>
            </a:stretch>
          </p:blipFill>
          <p:spPr>
            <a:xfrm>
              <a:off x="692292" y="3558992"/>
              <a:ext cx="2577382" cy="2563349"/>
            </a:xfrm>
            <a:prstGeom prst="rect">
              <a:avLst/>
            </a:prstGeom>
          </p:spPr>
        </p:pic>
        <p:sp>
          <p:nvSpPr>
            <p:cNvPr id="11" name="CaixaDeTexto 10">
              <a:extLst>
                <a:ext uri="{FF2B5EF4-FFF2-40B4-BE49-F238E27FC236}">
                  <a16:creationId xmlns:a16="http://schemas.microsoft.com/office/drawing/2014/main" id="{85F5533E-974E-121F-CDE4-4C4FD1FE4687}"/>
                </a:ext>
              </a:extLst>
            </p:cNvPr>
            <p:cNvSpPr txBox="1"/>
            <p:nvPr/>
          </p:nvSpPr>
          <p:spPr>
            <a:xfrm>
              <a:off x="3469640" y="3429000"/>
              <a:ext cx="1313180" cy="369332"/>
            </a:xfrm>
            <a:prstGeom prst="rect">
              <a:avLst/>
            </a:prstGeom>
            <a:noFill/>
          </p:spPr>
          <p:txBody>
            <a:bodyPr wrap="none" rtlCol="0">
              <a:spAutoFit/>
            </a:bodyPr>
            <a:lstStyle/>
            <a:p>
              <a:r>
                <a:rPr lang="pt-BR" dirty="0"/>
                <a:t>Programas</a:t>
              </a:r>
            </a:p>
          </p:txBody>
        </p:sp>
        <p:sp>
          <p:nvSpPr>
            <p:cNvPr id="12" name="CaixaDeTexto 11">
              <a:extLst>
                <a:ext uri="{FF2B5EF4-FFF2-40B4-BE49-F238E27FC236}">
                  <a16:creationId xmlns:a16="http://schemas.microsoft.com/office/drawing/2014/main" id="{0172FBDD-9AE2-A08D-75A6-5839F37C804A}"/>
                </a:ext>
              </a:extLst>
            </p:cNvPr>
            <p:cNvSpPr txBox="1"/>
            <p:nvPr/>
          </p:nvSpPr>
          <p:spPr>
            <a:xfrm>
              <a:off x="3469640" y="3899402"/>
              <a:ext cx="1249060" cy="369332"/>
            </a:xfrm>
            <a:prstGeom prst="rect">
              <a:avLst/>
            </a:prstGeom>
            <a:noFill/>
          </p:spPr>
          <p:txBody>
            <a:bodyPr wrap="none" rtlCol="0">
              <a:spAutoFit/>
            </a:bodyPr>
            <a:lstStyle/>
            <a:p>
              <a:r>
                <a:rPr lang="pt-BR" dirty="0"/>
                <a:t>Instruções</a:t>
              </a:r>
            </a:p>
          </p:txBody>
        </p:sp>
        <p:sp>
          <p:nvSpPr>
            <p:cNvPr id="13" name="CaixaDeTexto 12">
              <a:extLst>
                <a:ext uri="{FF2B5EF4-FFF2-40B4-BE49-F238E27FC236}">
                  <a16:creationId xmlns:a16="http://schemas.microsoft.com/office/drawing/2014/main" id="{340A2B8C-B783-1CBC-02E4-3B30864FAE76}"/>
                </a:ext>
              </a:extLst>
            </p:cNvPr>
            <p:cNvSpPr txBox="1"/>
            <p:nvPr/>
          </p:nvSpPr>
          <p:spPr>
            <a:xfrm>
              <a:off x="3500042" y="4369804"/>
              <a:ext cx="1018227" cy="369332"/>
            </a:xfrm>
            <a:prstGeom prst="rect">
              <a:avLst/>
            </a:prstGeom>
            <a:noFill/>
          </p:spPr>
          <p:txBody>
            <a:bodyPr wrap="none" rtlCol="0">
              <a:spAutoFit/>
            </a:bodyPr>
            <a:lstStyle/>
            <a:p>
              <a:r>
                <a:rPr lang="pt-BR" dirty="0"/>
                <a:t>Núcleos</a:t>
              </a:r>
            </a:p>
          </p:txBody>
        </p:sp>
        <p:cxnSp>
          <p:nvCxnSpPr>
            <p:cNvPr id="15" name="Conector de Seta Reta 14">
              <a:extLst>
                <a:ext uri="{FF2B5EF4-FFF2-40B4-BE49-F238E27FC236}">
                  <a16:creationId xmlns:a16="http://schemas.microsoft.com/office/drawing/2014/main" id="{3DCFD7A8-A414-C978-FD43-FC6D353BA8BC}"/>
                </a:ext>
              </a:extLst>
            </p:cNvPr>
            <p:cNvCxnSpPr>
              <a:cxnSpLocks/>
            </p:cNvCxnSpPr>
            <p:nvPr/>
          </p:nvCxnSpPr>
          <p:spPr>
            <a:xfrm flipH="1">
              <a:off x="2429764" y="3604929"/>
              <a:ext cx="1046480" cy="10107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ector de Seta Reta 15">
              <a:extLst>
                <a:ext uri="{FF2B5EF4-FFF2-40B4-BE49-F238E27FC236}">
                  <a16:creationId xmlns:a16="http://schemas.microsoft.com/office/drawing/2014/main" id="{9F5CD1EE-EEC3-2A5F-0BD5-6690B56679AC}"/>
                </a:ext>
              </a:extLst>
            </p:cNvPr>
            <p:cNvCxnSpPr>
              <a:cxnSpLocks/>
              <a:stCxn id="12" idx="1"/>
            </p:cNvCxnSpPr>
            <p:nvPr/>
          </p:nvCxnSpPr>
          <p:spPr>
            <a:xfrm flipH="1" flipV="1">
              <a:off x="2359152" y="4000472"/>
              <a:ext cx="1110488" cy="83596"/>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ector de Seta Reta 16">
              <a:extLst>
                <a:ext uri="{FF2B5EF4-FFF2-40B4-BE49-F238E27FC236}">
                  <a16:creationId xmlns:a16="http://schemas.microsoft.com/office/drawing/2014/main" id="{B75CF529-06B9-5686-B3FD-7B5E7C05EC40}"/>
                </a:ext>
              </a:extLst>
            </p:cNvPr>
            <p:cNvCxnSpPr>
              <a:cxnSpLocks/>
              <a:stCxn id="13" idx="1"/>
            </p:cNvCxnSpPr>
            <p:nvPr/>
          </p:nvCxnSpPr>
          <p:spPr>
            <a:xfrm flipH="1" flipV="1">
              <a:off x="2295144" y="4420520"/>
              <a:ext cx="1204898" cy="133950"/>
            </a:xfrm>
            <a:prstGeom prst="straightConnector1">
              <a:avLst/>
            </a:prstGeom>
            <a:ln w="57150">
              <a:solidFill>
                <a:srgbClr val="F2BF27"/>
              </a:solidFill>
              <a:tailEnd type="triangle"/>
            </a:ln>
          </p:spPr>
          <p:style>
            <a:lnRef idx="2">
              <a:schemeClr val="accent1"/>
            </a:lnRef>
            <a:fillRef idx="0">
              <a:schemeClr val="accent1"/>
            </a:fillRef>
            <a:effectRef idx="1">
              <a:schemeClr val="accent1"/>
            </a:effectRef>
            <a:fontRef idx="minor">
              <a:schemeClr val="tx1"/>
            </a:fontRef>
          </p:style>
        </p:cxnSp>
      </p:grpSp>
      <p:pic>
        <p:nvPicPr>
          <p:cNvPr id="27" name="Picture 6" descr="Flork PNG 20">
            <a:extLst>
              <a:ext uri="{FF2B5EF4-FFF2-40B4-BE49-F238E27FC236}">
                <a16:creationId xmlns:a16="http://schemas.microsoft.com/office/drawing/2014/main" id="{B5DC466F-D141-00A2-B929-6B2FB5900C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5" y="4689013"/>
            <a:ext cx="1257299" cy="1783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3128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DC0697-447C-47B6-5087-CD3A1711B97A}"/>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CA2A1993-DDD4-D47D-4F1A-D4D78A2D2B7A}"/>
              </a:ext>
            </a:extLst>
          </p:cNvPr>
          <p:cNvSpPr>
            <a:spLocks noGrp="1"/>
          </p:cNvSpPr>
          <p:nvPr>
            <p:ph idx="1"/>
          </p:nvPr>
        </p:nvSpPr>
        <p:spPr/>
        <p:txBody>
          <a:bodyPr/>
          <a:lstStyle/>
          <a:p>
            <a:r>
              <a:rPr lang="pt-BR" dirty="0"/>
              <a:t>Essa abordagem de estruturação de software fez muito sucesso no domínio das redes de computadores, através do modelo de referência OSI (Open Systems </a:t>
            </a:r>
            <a:r>
              <a:rPr lang="pt-BR" dirty="0" err="1"/>
              <a:t>Interconnection</a:t>
            </a:r>
            <a:r>
              <a:rPr lang="pt-BR" dirty="0"/>
              <a:t>), e também seria de se esperar sua adoção no domínio dos sistemas operacionais.</a:t>
            </a:r>
          </a:p>
          <a:p>
            <a:r>
              <a:rPr lang="pt-BR" dirty="0"/>
              <a:t>No entanto, alguns inconvenientes limitam sua aceitação nesse contexto: </a:t>
            </a:r>
          </a:p>
        </p:txBody>
      </p:sp>
      <p:sp>
        <p:nvSpPr>
          <p:cNvPr id="6" name="Espaço Reservado para Número de Slide 5">
            <a:extLst>
              <a:ext uri="{FF2B5EF4-FFF2-40B4-BE49-F238E27FC236}">
                <a16:creationId xmlns:a16="http://schemas.microsoft.com/office/drawing/2014/main" id="{B4B84123-0CDE-0314-0F89-9A62526E145D}"/>
              </a:ext>
            </a:extLst>
          </p:cNvPr>
          <p:cNvSpPr>
            <a:spLocks noGrp="1"/>
          </p:cNvSpPr>
          <p:nvPr>
            <p:ph type="sldNum" sz="quarter" idx="12"/>
          </p:nvPr>
        </p:nvSpPr>
        <p:spPr/>
        <p:txBody>
          <a:bodyPr/>
          <a:lstStyle/>
          <a:p>
            <a:fld id="{889E4DDB-AB51-4EFC-ADEE-1042DB8CA710}" type="slidenum">
              <a:rPr lang="pt-BR" smtClean="0"/>
              <a:t>12</a:t>
            </a:fld>
            <a:endParaRPr lang="pt-BR"/>
          </a:p>
        </p:txBody>
      </p:sp>
    </p:spTree>
    <p:extLst>
      <p:ext uri="{BB962C8B-B14F-4D97-AF65-F5344CB8AC3E}">
        <p14:creationId xmlns:p14="http://schemas.microsoft.com/office/powerpoint/2010/main" val="4112419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1A828F-A5CE-5568-B334-CE94A2E48ADE}"/>
              </a:ext>
            </a:extLst>
          </p:cNvPr>
          <p:cNvSpPr>
            <a:spLocks noGrp="1"/>
          </p:cNvSpPr>
          <p:nvPr>
            <p:ph type="title"/>
          </p:nvPr>
        </p:nvSpPr>
        <p:spPr/>
        <p:txBody>
          <a:bodyPr/>
          <a:lstStyle/>
          <a:p>
            <a:r>
              <a:rPr lang="pt-BR" dirty="0"/>
              <a:t>Sistemas em camadas</a:t>
            </a:r>
          </a:p>
        </p:txBody>
      </p:sp>
      <p:graphicFrame>
        <p:nvGraphicFramePr>
          <p:cNvPr id="10" name="Espaço Reservado para Conteúdo 9">
            <a:extLst>
              <a:ext uri="{FF2B5EF4-FFF2-40B4-BE49-F238E27FC236}">
                <a16:creationId xmlns:a16="http://schemas.microsoft.com/office/drawing/2014/main" id="{5A47E491-F3BB-4A59-C88E-D715DE5DFE0F}"/>
              </a:ext>
            </a:extLst>
          </p:cNvPr>
          <p:cNvGraphicFramePr>
            <a:graphicFrameLocks noGrp="1"/>
          </p:cNvGraphicFramePr>
          <p:nvPr>
            <p:ph idx="1"/>
            <p:extLst>
              <p:ext uri="{D42A27DB-BD31-4B8C-83A1-F6EECF244321}">
                <p14:modId xmlns:p14="http://schemas.microsoft.com/office/powerpoint/2010/main" val="1362784958"/>
              </p:ext>
            </p:extLst>
          </p:nvPr>
        </p:nvGraphicFramePr>
        <p:xfrm>
          <a:off x="85163" y="1115568"/>
          <a:ext cx="12021104" cy="53309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Espaço Reservado para Número de Slide 5">
            <a:extLst>
              <a:ext uri="{FF2B5EF4-FFF2-40B4-BE49-F238E27FC236}">
                <a16:creationId xmlns:a16="http://schemas.microsoft.com/office/drawing/2014/main" id="{9DDC990B-8901-34F5-356C-69F5F4B37379}"/>
              </a:ext>
            </a:extLst>
          </p:cNvPr>
          <p:cNvSpPr>
            <a:spLocks noGrp="1"/>
          </p:cNvSpPr>
          <p:nvPr>
            <p:ph type="sldNum" sz="quarter" idx="12"/>
          </p:nvPr>
        </p:nvSpPr>
        <p:spPr/>
        <p:txBody>
          <a:bodyPr/>
          <a:lstStyle/>
          <a:p>
            <a:fld id="{889E4DDB-AB51-4EFC-ADEE-1042DB8CA710}" type="slidenum">
              <a:rPr lang="pt-BR" smtClean="0"/>
              <a:t>13</a:t>
            </a:fld>
            <a:endParaRPr lang="pt-BR"/>
          </a:p>
        </p:txBody>
      </p:sp>
      <p:sp>
        <p:nvSpPr>
          <p:cNvPr id="12" name="CaixaDeTexto 11">
            <a:extLst>
              <a:ext uri="{FF2B5EF4-FFF2-40B4-BE49-F238E27FC236}">
                <a16:creationId xmlns:a16="http://schemas.microsoft.com/office/drawing/2014/main" id="{9671A1F0-4995-44E1-CC3B-265C5E6C0D0C}"/>
              </a:ext>
            </a:extLst>
          </p:cNvPr>
          <p:cNvSpPr txBox="1"/>
          <p:nvPr/>
        </p:nvSpPr>
        <p:spPr>
          <a:xfrm>
            <a:off x="239487" y="6077188"/>
            <a:ext cx="11712456" cy="369332"/>
          </a:xfrm>
          <a:prstGeom prst="rect">
            <a:avLst/>
          </a:prstGeom>
          <a:noFill/>
        </p:spPr>
        <p:txBody>
          <a:bodyPr wrap="square">
            <a:spAutoFit/>
          </a:bodyPr>
          <a:lstStyle/>
          <a:p>
            <a:r>
              <a:rPr lang="pt-BR" dirty="0">
                <a:solidFill>
                  <a:srgbClr val="FF0000"/>
                </a:solidFill>
              </a:rPr>
              <a:t>Em decorrência desses inconvenientes, a estruturação em camadas é apenas parcialmente adotada hoje em dia. </a:t>
            </a:r>
          </a:p>
        </p:txBody>
      </p:sp>
    </p:spTree>
    <p:extLst>
      <p:ext uri="{BB962C8B-B14F-4D97-AF65-F5344CB8AC3E}">
        <p14:creationId xmlns:p14="http://schemas.microsoft.com/office/powerpoint/2010/main" val="557144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C9B566-7D66-7371-4DDD-B16BE4A9A5AD}"/>
              </a:ext>
            </a:extLst>
          </p:cNvPr>
          <p:cNvSpPr>
            <a:spLocks noGrp="1"/>
          </p:cNvSpPr>
          <p:nvPr>
            <p:ph type="title"/>
          </p:nvPr>
        </p:nvSpPr>
        <p:spPr/>
        <p:txBody>
          <a:bodyPr/>
          <a:lstStyle/>
          <a:p>
            <a:r>
              <a:rPr lang="pt-BR" dirty="0"/>
              <a:t>Sistemas em camadas</a:t>
            </a:r>
          </a:p>
        </p:txBody>
      </p:sp>
      <p:sp>
        <p:nvSpPr>
          <p:cNvPr id="3" name="Espaço Reservado para Conteúdo 2">
            <a:extLst>
              <a:ext uri="{FF2B5EF4-FFF2-40B4-BE49-F238E27FC236}">
                <a16:creationId xmlns:a16="http://schemas.microsoft.com/office/drawing/2014/main" id="{B34C823E-163E-0F17-EF39-E647F51BD275}"/>
              </a:ext>
            </a:extLst>
          </p:cNvPr>
          <p:cNvSpPr>
            <a:spLocks noGrp="1"/>
          </p:cNvSpPr>
          <p:nvPr>
            <p:ph idx="1"/>
          </p:nvPr>
        </p:nvSpPr>
        <p:spPr/>
        <p:txBody>
          <a:bodyPr/>
          <a:lstStyle/>
          <a:p>
            <a:r>
              <a:rPr lang="pt-BR" dirty="0"/>
              <a:t>Muitos sistemas implementam:</a:t>
            </a:r>
          </a:p>
          <a:p>
            <a:r>
              <a:rPr lang="pt-BR" dirty="0"/>
              <a:t>Uma camada inferior de abstração do hardware para interagir com os dispositivos (a camada HAL – Hardware </a:t>
            </a:r>
            <a:r>
              <a:rPr lang="pt-BR" dirty="0" err="1"/>
              <a:t>Abstraction</a:t>
            </a:r>
            <a:r>
              <a:rPr lang="pt-BR" dirty="0"/>
              <a:t> </a:t>
            </a:r>
            <a:r>
              <a:rPr lang="pt-BR" dirty="0" err="1"/>
              <a:t>Layer</a:t>
            </a:r>
            <a:r>
              <a:rPr lang="pt-BR" dirty="0"/>
              <a:t>, implementada no Windows NT e seus sucessores),</a:t>
            </a:r>
          </a:p>
          <a:p>
            <a:r>
              <a:rPr lang="pt-BR" dirty="0"/>
              <a:t>Organizam em camadas alguns </a:t>
            </a:r>
            <a:r>
              <a:rPr lang="pt-BR" dirty="0" err="1"/>
              <a:t>sub-sistemas</a:t>
            </a:r>
            <a:r>
              <a:rPr lang="pt-BR" dirty="0"/>
              <a:t> como a gerência de arquivos e o suporte de rede (seguindo o modelo OSI).</a:t>
            </a:r>
          </a:p>
        </p:txBody>
      </p:sp>
      <p:sp>
        <p:nvSpPr>
          <p:cNvPr id="6" name="Espaço Reservado para Número de Slide 5">
            <a:extLst>
              <a:ext uri="{FF2B5EF4-FFF2-40B4-BE49-F238E27FC236}">
                <a16:creationId xmlns:a16="http://schemas.microsoft.com/office/drawing/2014/main" id="{77130FFF-63E6-DBBC-9F02-FDC67926F99D}"/>
              </a:ext>
            </a:extLst>
          </p:cNvPr>
          <p:cNvSpPr>
            <a:spLocks noGrp="1"/>
          </p:cNvSpPr>
          <p:nvPr>
            <p:ph type="sldNum" sz="quarter" idx="12"/>
          </p:nvPr>
        </p:nvSpPr>
        <p:spPr/>
        <p:txBody>
          <a:bodyPr/>
          <a:lstStyle/>
          <a:p>
            <a:fld id="{889E4DDB-AB51-4EFC-ADEE-1042DB8CA710}" type="slidenum">
              <a:rPr lang="pt-BR" smtClean="0"/>
              <a:t>14</a:t>
            </a:fld>
            <a:endParaRPr lang="pt-BR"/>
          </a:p>
        </p:txBody>
      </p:sp>
      <p:pic>
        <p:nvPicPr>
          <p:cNvPr id="2050" name="Picture 2" descr="O Windows NT 4 (PT-BR) em 2015 - Bruno A. Vieira">
            <a:extLst>
              <a:ext uri="{FF2B5EF4-FFF2-40B4-BE49-F238E27FC236}">
                <a16:creationId xmlns:a16="http://schemas.microsoft.com/office/drawing/2014/main" id="{44648354-6EFC-C88E-3C50-540B109823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60" y="4059633"/>
            <a:ext cx="4263995" cy="276418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indows NT 4.0 Workstation Build 1166 : Microsoft : Free Download, Borrow,  and Streaming : Internet Archive">
            <a:extLst>
              <a:ext uri="{FF2B5EF4-FFF2-40B4-BE49-F238E27FC236}">
                <a16:creationId xmlns:a16="http://schemas.microsoft.com/office/drawing/2014/main" id="{278F3728-FC46-FC0D-A891-280A93ED21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0047" y="3751168"/>
            <a:ext cx="3952867" cy="2964650"/>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m 6">
            <a:extLst>
              <a:ext uri="{FF2B5EF4-FFF2-40B4-BE49-F238E27FC236}">
                <a16:creationId xmlns:a16="http://schemas.microsoft.com/office/drawing/2014/main" id="{45FA27A9-AF7D-09EF-E2F4-2392B3343215}"/>
              </a:ext>
            </a:extLst>
          </p:cNvPr>
          <p:cNvPicPr>
            <a:picLocks noChangeAspect="1"/>
          </p:cNvPicPr>
          <p:nvPr/>
        </p:nvPicPr>
        <p:blipFill>
          <a:blip r:embed="rId4"/>
          <a:stretch>
            <a:fillRect/>
          </a:stretch>
        </p:blipFill>
        <p:spPr>
          <a:xfrm>
            <a:off x="5608999" y="5328394"/>
            <a:ext cx="973432" cy="1040035"/>
          </a:xfrm>
          <a:prstGeom prst="rect">
            <a:avLst/>
          </a:prstGeom>
        </p:spPr>
      </p:pic>
    </p:spTree>
    <p:extLst>
      <p:ext uri="{BB962C8B-B14F-4D97-AF65-F5344CB8AC3E}">
        <p14:creationId xmlns:p14="http://schemas.microsoft.com/office/powerpoint/2010/main" val="1231528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2B3B5-C176-E4ED-FA1E-19BCB981F35B}"/>
              </a:ext>
            </a:extLst>
          </p:cNvPr>
          <p:cNvSpPr>
            <a:spLocks noGrp="1"/>
          </p:cNvSpPr>
          <p:nvPr>
            <p:ph type="title"/>
          </p:nvPr>
        </p:nvSpPr>
        <p:spPr/>
        <p:txBody>
          <a:bodyPr/>
          <a:lstStyle/>
          <a:p>
            <a:r>
              <a:rPr lang="pt-BR" dirty="0"/>
              <a:t>Sistemas em camadas</a:t>
            </a:r>
          </a:p>
        </p:txBody>
      </p:sp>
      <p:sp>
        <p:nvSpPr>
          <p:cNvPr id="3" name="Espaço Reservado para Conteúdo 2">
            <a:extLst>
              <a:ext uri="{FF2B5EF4-FFF2-40B4-BE49-F238E27FC236}">
                <a16:creationId xmlns:a16="http://schemas.microsoft.com/office/drawing/2014/main" id="{B462929B-784B-82EB-8E29-6C27E21FEDC7}"/>
              </a:ext>
            </a:extLst>
          </p:cNvPr>
          <p:cNvSpPr>
            <a:spLocks noGrp="1"/>
          </p:cNvSpPr>
          <p:nvPr>
            <p:ph idx="1"/>
          </p:nvPr>
        </p:nvSpPr>
        <p:spPr/>
        <p:txBody>
          <a:bodyPr/>
          <a:lstStyle/>
          <a:p>
            <a:r>
              <a:rPr lang="pt-BR" dirty="0"/>
              <a:t>Como exemplos de sistemas fortemente estruturados em camadas podem ser citados o IBM OS/2 e o MULTICS. </a:t>
            </a:r>
          </a:p>
        </p:txBody>
      </p:sp>
      <p:sp>
        <p:nvSpPr>
          <p:cNvPr id="6" name="Espaço Reservado para Número de Slide 5">
            <a:extLst>
              <a:ext uri="{FF2B5EF4-FFF2-40B4-BE49-F238E27FC236}">
                <a16:creationId xmlns:a16="http://schemas.microsoft.com/office/drawing/2014/main" id="{EDB17BA7-A469-7A16-4B88-7127DF4D6555}"/>
              </a:ext>
            </a:extLst>
          </p:cNvPr>
          <p:cNvSpPr>
            <a:spLocks noGrp="1"/>
          </p:cNvSpPr>
          <p:nvPr>
            <p:ph type="sldNum" sz="quarter" idx="12"/>
          </p:nvPr>
        </p:nvSpPr>
        <p:spPr/>
        <p:txBody>
          <a:bodyPr/>
          <a:lstStyle/>
          <a:p>
            <a:fld id="{889E4DDB-AB51-4EFC-ADEE-1042DB8CA710}" type="slidenum">
              <a:rPr lang="pt-BR" smtClean="0"/>
              <a:t>15</a:t>
            </a:fld>
            <a:endParaRPr lang="pt-BR"/>
          </a:p>
        </p:txBody>
      </p:sp>
      <p:pic>
        <p:nvPicPr>
          <p:cNvPr id="1026" name="Picture 2" descr="Microsoft IBM OS/2 Warp 4 Virtualbox Installation and first look">
            <a:extLst>
              <a:ext uri="{FF2B5EF4-FFF2-40B4-BE49-F238E27FC236}">
                <a16:creationId xmlns:a16="http://schemas.microsoft.com/office/drawing/2014/main" id="{DE323FDE-9218-23E9-0EA6-0BAF105C2E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700" y="2816352"/>
            <a:ext cx="4348152" cy="326111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ultics – Wikipédia, a enciclopédia livre">
            <a:extLst>
              <a:ext uri="{FF2B5EF4-FFF2-40B4-BE49-F238E27FC236}">
                <a16:creationId xmlns:a16="http://schemas.microsoft.com/office/drawing/2014/main" id="{A586185F-6B8C-C578-530E-29E794344F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8735" y="2492559"/>
            <a:ext cx="4913936" cy="3658059"/>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m 7">
            <a:extLst>
              <a:ext uri="{FF2B5EF4-FFF2-40B4-BE49-F238E27FC236}">
                <a16:creationId xmlns:a16="http://schemas.microsoft.com/office/drawing/2014/main" id="{B22931B7-119B-F258-909A-F28337411494}"/>
              </a:ext>
            </a:extLst>
          </p:cNvPr>
          <p:cNvPicPr>
            <a:picLocks noChangeAspect="1"/>
          </p:cNvPicPr>
          <p:nvPr/>
        </p:nvPicPr>
        <p:blipFill>
          <a:blip r:embed="rId4"/>
          <a:stretch>
            <a:fillRect/>
          </a:stretch>
        </p:blipFill>
        <p:spPr>
          <a:xfrm>
            <a:off x="5064427" y="5214643"/>
            <a:ext cx="1342733" cy="1153786"/>
          </a:xfrm>
          <a:prstGeom prst="rect">
            <a:avLst/>
          </a:prstGeom>
        </p:spPr>
      </p:pic>
    </p:spTree>
    <p:extLst>
      <p:ext uri="{BB962C8B-B14F-4D97-AF65-F5344CB8AC3E}">
        <p14:creationId xmlns:p14="http://schemas.microsoft.com/office/powerpoint/2010/main" val="1590768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484B54-6CE0-34FE-0C53-324FA23F5C16}"/>
              </a:ext>
            </a:extLst>
          </p:cNvPr>
          <p:cNvSpPr>
            <a:spLocks noGrp="1"/>
          </p:cNvSpPr>
          <p:nvPr>
            <p:ph type="title"/>
          </p:nvPr>
        </p:nvSpPr>
        <p:spPr/>
        <p:txBody>
          <a:bodyPr/>
          <a:lstStyle/>
          <a:p>
            <a:r>
              <a:rPr lang="pt-BR" dirty="0"/>
              <a:t>Sistemas </a:t>
            </a:r>
            <a:r>
              <a:rPr lang="pt-BR" dirty="0" err="1"/>
              <a:t>micro-núcleo</a:t>
            </a:r>
            <a:r>
              <a:rPr lang="pt-BR" dirty="0"/>
              <a:t> ou </a:t>
            </a:r>
            <a:r>
              <a:rPr lang="el-GR" dirty="0"/>
              <a:t>μ-</a:t>
            </a:r>
            <a:r>
              <a:rPr lang="pt-BR" dirty="0"/>
              <a:t>kernel</a:t>
            </a:r>
          </a:p>
        </p:txBody>
      </p:sp>
      <p:graphicFrame>
        <p:nvGraphicFramePr>
          <p:cNvPr id="8" name="Espaço Reservado para Conteúdo 7">
            <a:extLst>
              <a:ext uri="{FF2B5EF4-FFF2-40B4-BE49-F238E27FC236}">
                <a16:creationId xmlns:a16="http://schemas.microsoft.com/office/drawing/2014/main" id="{EC998E3B-8EAE-C553-5398-85789A0F3C62}"/>
              </a:ext>
            </a:extLst>
          </p:cNvPr>
          <p:cNvGraphicFramePr>
            <a:graphicFrameLocks noGrp="1"/>
          </p:cNvGraphicFramePr>
          <p:nvPr>
            <p:ph idx="1"/>
            <p:extLst>
              <p:ext uri="{D42A27DB-BD31-4B8C-83A1-F6EECF244321}">
                <p14:modId xmlns:p14="http://schemas.microsoft.com/office/powerpoint/2010/main" val="306472541"/>
              </p:ext>
            </p:extLst>
          </p:nvPr>
        </p:nvGraphicFramePr>
        <p:xfrm>
          <a:off x="85163" y="1825625"/>
          <a:ext cx="12021112" cy="2060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Espaço Reservado para Número de Slide 5">
            <a:extLst>
              <a:ext uri="{FF2B5EF4-FFF2-40B4-BE49-F238E27FC236}">
                <a16:creationId xmlns:a16="http://schemas.microsoft.com/office/drawing/2014/main" id="{E97CE53C-84B1-A98E-9E2D-DAB407E6ECD3}"/>
              </a:ext>
            </a:extLst>
          </p:cNvPr>
          <p:cNvSpPr>
            <a:spLocks noGrp="1"/>
          </p:cNvSpPr>
          <p:nvPr>
            <p:ph type="sldNum" sz="quarter" idx="12"/>
          </p:nvPr>
        </p:nvSpPr>
        <p:spPr/>
        <p:txBody>
          <a:bodyPr/>
          <a:lstStyle/>
          <a:p>
            <a:fld id="{889E4DDB-AB51-4EFC-ADEE-1042DB8CA710}" type="slidenum">
              <a:rPr lang="pt-BR" smtClean="0"/>
              <a:t>16</a:t>
            </a:fld>
            <a:endParaRPr lang="pt-BR"/>
          </a:p>
        </p:txBody>
      </p:sp>
      <p:graphicFrame>
        <p:nvGraphicFramePr>
          <p:cNvPr id="11" name="Diagrama 10">
            <a:extLst>
              <a:ext uri="{FF2B5EF4-FFF2-40B4-BE49-F238E27FC236}">
                <a16:creationId xmlns:a16="http://schemas.microsoft.com/office/drawing/2014/main" id="{52465B35-8598-6220-BAF2-E426CA594F18}"/>
              </a:ext>
            </a:extLst>
          </p:cNvPr>
          <p:cNvGraphicFramePr/>
          <p:nvPr>
            <p:extLst>
              <p:ext uri="{D42A27DB-BD31-4B8C-83A1-F6EECF244321}">
                <p14:modId xmlns:p14="http://schemas.microsoft.com/office/powerpoint/2010/main" val="374711885"/>
              </p:ext>
            </p:extLst>
          </p:nvPr>
        </p:nvGraphicFramePr>
        <p:xfrm>
          <a:off x="85163" y="4171937"/>
          <a:ext cx="12021112" cy="226543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939959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199B9C-669E-397E-1BAF-2CAFF391A619}"/>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E4D8D6D3-B9D8-C385-DA9D-999AE2AD1D8F}"/>
              </a:ext>
            </a:extLst>
          </p:cNvPr>
          <p:cNvSpPr>
            <a:spLocks noGrp="1"/>
          </p:cNvSpPr>
          <p:nvPr>
            <p:ph idx="1"/>
          </p:nvPr>
        </p:nvSpPr>
        <p:spPr/>
        <p:txBody>
          <a:bodyPr/>
          <a:lstStyle/>
          <a:p>
            <a:r>
              <a:rPr lang="pt-BR" dirty="0"/>
              <a:t>Um </a:t>
            </a:r>
            <a:r>
              <a:rPr lang="pt-BR" dirty="0" err="1"/>
              <a:t>micro-núcleo</a:t>
            </a:r>
            <a:r>
              <a:rPr lang="pt-BR" dirty="0"/>
              <a:t> normalmente implementa somente a noção de atividade, de espaços de memória protegidos e de comunicação entre atividades. </a:t>
            </a:r>
          </a:p>
          <a:p>
            <a:r>
              <a:rPr lang="pt-BR" dirty="0"/>
              <a:t>Todos os aspectos de alto nível, como políticas de uso do processador e da memória, o sistema de arquivos e o controle de acesso aos recursos são implementados fora do núcleo, em processos que se comunicam usando as primitivas do núcleo. </a:t>
            </a:r>
          </a:p>
        </p:txBody>
      </p:sp>
      <p:sp>
        <p:nvSpPr>
          <p:cNvPr id="6" name="Espaço Reservado para Número de Slide 5">
            <a:extLst>
              <a:ext uri="{FF2B5EF4-FFF2-40B4-BE49-F238E27FC236}">
                <a16:creationId xmlns:a16="http://schemas.microsoft.com/office/drawing/2014/main" id="{72DA2376-0CD0-0186-68F9-7FA3EC9E6CC1}"/>
              </a:ext>
            </a:extLst>
          </p:cNvPr>
          <p:cNvSpPr>
            <a:spLocks noGrp="1"/>
          </p:cNvSpPr>
          <p:nvPr>
            <p:ph type="sldNum" sz="quarter" idx="12"/>
          </p:nvPr>
        </p:nvSpPr>
        <p:spPr/>
        <p:txBody>
          <a:bodyPr/>
          <a:lstStyle/>
          <a:p>
            <a:fld id="{889E4DDB-AB51-4EFC-ADEE-1042DB8CA710}" type="slidenum">
              <a:rPr lang="pt-BR" smtClean="0"/>
              <a:t>17</a:t>
            </a:fld>
            <a:endParaRPr lang="pt-BR"/>
          </a:p>
        </p:txBody>
      </p:sp>
    </p:spTree>
    <p:extLst>
      <p:ext uri="{BB962C8B-B14F-4D97-AF65-F5344CB8AC3E}">
        <p14:creationId xmlns:p14="http://schemas.microsoft.com/office/powerpoint/2010/main" val="374936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0F2185-3A8D-81FD-47F1-3165033CF6F2}"/>
              </a:ext>
            </a:extLst>
          </p:cNvPr>
          <p:cNvSpPr>
            <a:spLocks noGrp="1"/>
          </p:cNvSpPr>
          <p:nvPr>
            <p:ph type="title"/>
          </p:nvPr>
        </p:nvSpPr>
        <p:spPr/>
        <p:txBody>
          <a:bodyPr anchor="ctr">
            <a:normAutofit/>
          </a:bodyPr>
          <a:lstStyle/>
          <a:p>
            <a:r>
              <a:rPr lang="pt-BR" dirty="0"/>
              <a:t>Sistemas </a:t>
            </a:r>
            <a:r>
              <a:rPr lang="pt-BR" dirty="0" err="1"/>
              <a:t>micro-núcleo</a:t>
            </a:r>
            <a:r>
              <a:rPr lang="pt-BR" dirty="0"/>
              <a:t> ou </a:t>
            </a:r>
            <a:r>
              <a:rPr lang="el-GR" dirty="0"/>
              <a:t>μ-</a:t>
            </a:r>
            <a:r>
              <a:rPr lang="pt-BR" dirty="0"/>
              <a:t>kernel</a:t>
            </a:r>
          </a:p>
        </p:txBody>
      </p:sp>
      <p:sp>
        <p:nvSpPr>
          <p:cNvPr id="3" name="Espaço Reservado para Conteúdo 2">
            <a:extLst>
              <a:ext uri="{FF2B5EF4-FFF2-40B4-BE49-F238E27FC236}">
                <a16:creationId xmlns:a16="http://schemas.microsoft.com/office/drawing/2014/main" id="{859FCFC7-B535-B42A-C1AA-0CA96752E1C3}"/>
              </a:ext>
            </a:extLst>
          </p:cNvPr>
          <p:cNvSpPr>
            <a:spLocks noGrp="1"/>
          </p:cNvSpPr>
          <p:nvPr>
            <p:ph idx="1"/>
          </p:nvPr>
        </p:nvSpPr>
        <p:spPr>
          <a:xfrm>
            <a:off x="85163" y="1791856"/>
            <a:ext cx="12021104" cy="4576574"/>
          </a:xfrm>
        </p:spPr>
        <p:txBody>
          <a:bodyPr>
            <a:normAutofit/>
          </a:bodyPr>
          <a:lstStyle/>
          <a:p>
            <a:r>
              <a:rPr lang="pt-BR" dirty="0"/>
              <a:t>As interações entre componentes e aplicações são feitas através de trocas de mensagens. </a:t>
            </a:r>
          </a:p>
          <a:p>
            <a:pPr lvl="1"/>
            <a:r>
              <a:rPr lang="pt-BR" dirty="0">
                <a:solidFill>
                  <a:srgbClr val="FF0000"/>
                </a:solidFill>
              </a:rPr>
              <a:t>Aplicação &gt;Gerente de arquivos &gt; Gerente de dispositivos &gt; Dados desejados</a:t>
            </a:r>
          </a:p>
          <a:p>
            <a:r>
              <a:rPr lang="pt-BR" dirty="0"/>
              <a:t>Os processos não podem se comunicar diretamente.</a:t>
            </a:r>
          </a:p>
          <a:p>
            <a:endParaRPr lang="pt-BR" dirty="0"/>
          </a:p>
        </p:txBody>
      </p:sp>
      <p:sp>
        <p:nvSpPr>
          <p:cNvPr id="6" name="Espaço Reservado para Número de Slide 5">
            <a:extLst>
              <a:ext uri="{FF2B5EF4-FFF2-40B4-BE49-F238E27FC236}">
                <a16:creationId xmlns:a16="http://schemas.microsoft.com/office/drawing/2014/main" id="{9DA6D3DC-0FE9-9390-BDD2-B384BB4D532E}"/>
              </a:ext>
            </a:extLst>
          </p:cNvPr>
          <p:cNvSpPr>
            <a:spLocks noGrp="1"/>
          </p:cNvSpPr>
          <p:nvPr>
            <p:ph type="sldNum" sz="quarter" idx="12"/>
          </p:nvPr>
        </p:nvSpPr>
        <p:spPr/>
        <p:txBody>
          <a:bodyPr anchor="ctr">
            <a:normAutofit/>
          </a:bodyPr>
          <a:lstStyle/>
          <a:p>
            <a:pPr>
              <a:lnSpc>
                <a:spcPct val="90000"/>
              </a:lnSpc>
              <a:spcAft>
                <a:spcPts val="600"/>
              </a:spcAft>
            </a:pPr>
            <a:fld id="{889E4DDB-AB51-4EFC-ADEE-1042DB8CA710}" type="slidenum">
              <a:rPr lang="pt-BR" sz="900" smtClean="0"/>
              <a:pPr>
                <a:lnSpc>
                  <a:spcPct val="90000"/>
                </a:lnSpc>
                <a:spcAft>
                  <a:spcPts val="600"/>
                </a:spcAft>
              </a:pPr>
              <a:t>18</a:t>
            </a:fld>
            <a:endParaRPr lang="pt-BR" sz="900"/>
          </a:p>
        </p:txBody>
      </p:sp>
      <p:pic>
        <p:nvPicPr>
          <p:cNvPr id="8" name="Imagem 7" descr="Diagrama&#10;&#10;Descrição gerada automaticamente">
            <a:extLst>
              <a:ext uri="{FF2B5EF4-FFF2-40B4-BE49-F238E27FC236}">
                <a16:creationId xmlns:a16="http://schemas.microsoft.com/office/drawing/2014/main" id="{EAFA3BA7-40A0-42B7-C5EE-1C6B7082F0AE}"/>
              </a:ext>
            </a:extLst>
          </p:cNvPr>
          <p:cNvPicPr>
            <a:picLocks noChangeAspect="1"/>
          </p:cNvPicPr>
          <p:nvPr/>
        </p:nvPicPr>
        <p:blipFill>
          <a:blip r:embed="rId2"/>
          <a:stretch>
            <a:fillRect/>
          </a:stretch>
        </p:blipFill>
        <p:spPr>
          <a:xfrm>
            <a:off x="2086816" y="3397724"/>
            <a:ext cx="8018368" cy="3407806"/>
          </a:xfrm>
          <a:prstGeom prst="rect">
            <a:avLst/>
          </a:prstGeom>
          <a:noFill/>
        </p:spPr>
      </p:pic>
    </p:spTree>
    <p:extLst>
      <p:ext uri="{BB962C8B-B14F-4D97-AF65-F5344CB8AC3E}">
        <p14:creationId xmlns:p14="http://schemas.microsoft.com/office/powerpoint/2010/main" val="944002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7C220E-D88E-4F6E-C11B-C31ABF4373CF}"/>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0C9CFE3F-6032-8785-E956-6EF9B77ED4E5}"/>
              </a:ext>
            </a:extLst>
          </p:cNvPr>
          <p:cNvSpPr>
            <a:spLocks noGrp="1"/>
          </p:cNvSpPr>
          <p:nvPr>
            <p:ph idx="1"/>
          </p:nvPr>
        </p:nvSpPr>
        <p:spPr/>
        <p:txBody>
          <a:bodyPr/>
          <a:lstStyle/>
          <a:p>
            <a:r>
              <a:rPr lang="pt-BR" dirty="0"/>
              <a:t>Em um sistema </a:t>
            </a:r>
            <a:r>
              <a:rPr lang="pt-BR" dirty="0" err="1"/>
              <a:t>micro-núcleo</a:t>
            </a:r>
            <a:r>
              <a:rPr lang="pt-BR" dirty="0"/>
              <a:t>, as interações entre componentes e aplicações são feitas através de trocas de mensagens. </a:t>
            </a:r>
          </a:p>
          <a:p>
            <a:r>
              <a:rPr lang="pt-BR" dirty="0"/>
              <a:t>Assim, se uma aplicação deseja abrir um arquivo no disco rígido, envia uma mensagem para o gerente de arquivos que, por sua vez, se comunica com o gerente de dispositivos para obter os blocos de dados relativos ao arquivo desejado. </a:t>
            </a:r>
          </a:p>
          <a:p>
            <a:r>
              <a:rPr lang="pt-BR" dirty="0"/>
              <a:t>Os processos não podem se comunicar diretamente, devido às restrições impostas pelos mecanismos de proteção do hardware. </a:t>
            </a:r>
          </a:p>
          <a:p>
            <a:r>
              <a:rPr lang="pt-BR" dirty="0"/>
              <a:t>Por isso, todas as mensagens são transmitidas através de serviços do </a:t>
            </a:r>
            <a:r>
              <a:rPr lang="pt-BR" dirty="0" err="1"/>
              <a:t>micro-núcleo</a:t>
            </a:r>
            <a:r>
              <a:rPr lang="pt-BR" dirty="0"/>
              <a:t>. </a:t>
            </a:r>
          </a:p>
          <a:p>
            <a:r>
              <a:rPr lang="pt-BR" dirty="0"/>
              <a:t>Como os processos têm de solicitar “serviços” uns dos outros, para poder realizar suas tarefas, essa abordagem também foi denominada </a:t>
            </a:r>
            <a:r>
              <a:rPr lang="pt-BR" dirty="0" err="1"/>
              <a:t>clienteservidor</a:t>
            </a:r>
            <a:r>
              <a:rPr lang="pt-BR" dirty="0"/>
              <a:t>. </a:t>
            </a:r>
          </a:p>
        </p:txBody>
      </p:sp>
      <p:sp>
        <p:nvSpPr>
          <p:cNvPr id="6" name="Espaço Reservado para Número de Slide 5">
            <a:extLst>
              <a:ext uri="{FF2B5EF4-FFF2-40B4-BE49-F238E27FC236}">
                <a16:creationId xmlns:a16="http://schemas.microsoft.com/office/drawing/2014/main" id="{64D50CB9-5F72-9356-E08E-AD9D2F65F0CB}"/>
              </a:ext>
            </a:extLst>
          </p:cNvPr>
          <p:cNvSpPr>
            <a:spLocks noGrp="1"/>
          </p:cNvSpPr>
          <p:nvPr>
            <p:ph type="sldNum" sz="quarter" idx="12"/>
          </p:nvPr>
        </p:nvSpPr>
        <p:spPr/>
        <p:txBody>
          <a:bodyPr/>
          <a:lstStyle/>
          <a:p>
            <a:fld id="{889E4DDB-AB51-4EFC-ADEE-1042DB8CA710}" type="slidenum">
              <a:rPr lang="pt-BR" smtClean="0"/>
              <a:t>19</a:t>
            </a:fld>
            <a:endParaRPr lang="pt-BR"/>
          </a:p>
        </p:txBody>
      </p:sp>
    </p:spTree>
    <p:extLst>
      <p:ext uri="{BB962C8B-B14F-4D97-AF65-F5344CB8AC3E}">
        <p14:creationId xmlns:p14="http://schemas.microsoft.com/office/powerpoint/2010/main" val="38275326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EB6BFD-71B9-500F-B4C8-E5C087DDB2DD}"/>
              </a:ext>
            </a:extLst>
          </p:cNvPr>
          <p:cNvSpPr>
            <a:spLocks noGrp="1"/>
          </p:cNvSpPr>
          <p:nvPr>
            <p:ph type="title"/>
          </p:nvPr>
        </p:nvSpPr>
        <p:spPr/>
        <p:txBody>
          <a:bodyPr/>
          <a:lstStyle/>
          <a:p>
            <a:r>
              <a:rPr lang="pt-BR" dirty="0"/>
              <a:t>Vantagens dos sistemas </a:t>
            </a:r>
            <a:r>
              <a:rPr lang="pt-BR" dirty="0" err="1"/>
              <a:t>micro-núcleo</a:t>
            </a:r>
            <a:endParaRPr lang="pt-BR" dirty="0"/>
          </a:p>
        </p:txBody>
      </p:sp>
      <p:graphicFrame>
        <p:nvGraphicFramePr>
          <p:cNvPr id="4" name="Espaço Reservado para Conteúdo 3">
            <a:extLst>
              <a:ext uri="{FF2B5EF4-FFF2-40B4-BE49-F238E27FC236}">
                <a16:creationId xmlns:a16="http://schemas.microsoft.com/office/drawing/2014/main" id="{F76ED5F0-1696-83F8-A8B7-61BD230FD433}"/>
              </a:ext>
            </a:extLst>
          </p:cNvPr>
          <p:cNvGraphicFramePr>
            <a:graphicFrameLocks noGrp="1"/>
          </p:cNvGraphicFramePr>
          <p:nvPr>
            <p:ph idx="1"/>
            <p:extLst>
              <p:ext uri="{D42A27DB-BD31-4B8C-83A1-F6EECF244321}">
                <p14:modId xmlns:p14="http://schemas.microsoft.com/office/powerpoint/2010/main" val="4063549110"/>
              </p:ext>
            </p:extLst>
          </p:nvPr>
        </p:nvGraphicFramePr>
        <p:xfrm>
          <a:off x="85163" y="1825624"/>
          <a:ext cx="12021104" cy="454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Espaço Reservado para Número de Slide 5">
            <a:extLst>
              <a:ext uri="{FF2B5EF4-FFF2-40B4-BE49-F238E27FC236}">
                <a16:creationId xmlns:a16="http://schemas.microsoft.com/office/drawing/2014/main" id="{F9387C2F-33AB-D7AC-04EC-A294241A0F55}"/>
              </a:ext>
            </a:extLst>
          </p:cNvPr>
          <p:cNvSpPr>
            <a:spLocks noGrp="1"/>
          </p:cNvSpPr>
          <p:nvPr>
            <p:ph type="sldNum" sz="quarter" idx="12"/>
          </p:nvPr>
        </p:nvSpPr>
        <p:spPr/>
        <p:txBody>
          <a:bodyPr/>
          <a:lstStyle/>
          <a:p>
            <a:fld id="{889E4DDB-AB51-4EFC-ADEE-1042DB8CA710}" type="slidenum">
              <a:rPr lang="pt-BR" smtClean="0"/>
              <a:t>20</a:t>
            </a:fld>
            <a:endParaRPr lang="pt-BR"/>
          </a:p>
        </p:txBody>
      </p:sp>
    </p:spTree>
    <p:extLst>
      <p:ext uri="{BB962C8B-B14F-4D97-AF65-F5344CB8AC3E}">
        <p14:creationId xmlns:p14="http://schemas.microsoft.com/office/powerpoint/2010/main" val="1903618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32E325-C16C-420E-C232-B78C330CF094}"/>
              </a:ext>
            </a:extLst>
          </p:cNvPr>
          <p:cNvSpPr>
            <a:spLocks noGrp="1"/>
          </p:cNvSpPr>
          <p:nvPr>
            <p:ph type="title"/>
          </p:nvPr>
        </p:nvSpPr>
        <p:spPr/>
        <p:txBody>
          <a:bodyPr/>
          <a:lstStyle/>
          <a:p>
            <a:r>
              <a:rPr lang="pt-BR" dirty="0"/>
              <a:t>Sistemas atuais que usam </a:t>
            </a:r>
            <a:r>
              <a:rPr lang="pt-BR" dirty="0" err="1"/>
              <a:t>micro-núcleo</a:t>
            </a:r>
            <a:endParaRPr lang="pt-BR" dirty="0"/>
          </a:p>
        </p:txBody>
      </p:sp>
      <p:sp>
        <p:nvSpPr>
          <p:cNvPr id="3" name="Espaço Reservado para Conteúdo 2">
            <a:extLst>
              <a:ext uri="{FF2B5EF4-FFF2-40B4-BE49-F238E27FC236}">
                <a16:creationId xmlns:a16="http://schemas.microsoft.com/office/drawing/2014/main" id="{A08AA875-FD24-FDD9-FE05-5E5C0FFF7E25}"/>
              </a:ext>
            </a:extLst>
          </p:cNvPr>
          <p:cNvSpPr>
            <a:spLocks noGrp="1"/>
          </p:cNvSpPr>
          <p:nvPr>
            <p:ph idx="1"/>
          </p:nvPr>
        </p:nvSpPr>
        <p:spPr/>
        <p:txBody>
          <a:bodyPr/>
          <a:lstStyle/>
          <a:p>
            <a:endParaRPr lang="pt-BR"/>
          </a:p>
        </p:txBody>
      </p:sp>
      <p:sp>
        <p:nvSpPr>
          <p:cNvPr id="6" name="Espaço Reservado para Número de Slide 5">
            <a:extLst>
              <a:ext uri="{FF2B5EF4-FFF2-40B4-BE49-F238E27FC236}">
                <a16:creationId xmlns:a16="http://schemas.microsoft.com/office/drawing/2014/main" id="{0868A380-9B84-B5A9-1297-7BDC58DFC6BA}"/>
              </a:ext>
            </a:extLst>
          </p:cNvPr>
          <p:cNvSpPr>
            <a:spLocks noGrp="1"/>
          </p:cNvSpPr>
          <p:nvPr>
            <p:ph type="sldNum" sz="quarter" idx="12"/>
          </p:nvPr>
        </p:nvSpPr>
        <p:spPr/>
        <p:txBody>
          <a:bodyPr/>
          <a:lstStyle/>
          <a:p>
            <a:fld id="{889E4DDB-AB51-4EFC-ADEE-1042DB8CA710}" type="slidenum">
              <a:rPr lang="pt-BR" smtClean="0"/>
              <a:t>21</a:t>
            </a:fld>
            <a:endParaRPr lang="pt-BR"/>
          </a:p>
        </p:txBody>
      </p:sp>
      <p:pic>
        <p:nvPicPr>
          <p:cNvPr id="3074" name="Picture 2" descr="Mac OS X | Software | TechTudo">
            <a:extLst>
              <a:ext uri="{FF2B5EF4-FFF2-40B4-BE49-F238E27FC236}">
                <a16:creationId xmlns:a16="http://schemas.microsoft.com/office/drawing/2014/main" id="{EC8DC465-8123-8DDD-975A-FEEF6B6789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793" y="1825624"/>
            <a:ext cx="5895109" cy="442133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Unix Digital">
            <a:extLst>
              <a:ext uri="{FF2B5EF4-FFF2-40B4-BE49-F238E27FC236}">
                <a16:creationId xmlns:a16="http://schemas.microsoft.com/office/drawing/2014/main" id="{82C8F4DE-2105-AFC1-A405-5CD03E2BF9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9816" y="1764001"/>
            <a:ext cx="2272289" cy="2272289"/>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US Agencies Urge Patch BlackBerry QNX Flaw | Silicon UK Tech News">
            <a:extLst>
              <a:ext uri="{FF2B5EF4-FFF2-40B4-BE49-F238E27FC236}">
                <a16:creationId xmlns:a16="http://schemas.microsoft.com/office/drawing/2014/main" id="{1BB621E9-E810-31D9-8F10-96FA0AB012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4050" y="4118221"/>
            <a:ext cx="4617950" cy="2597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14376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EE4B55-257F-8E8E-CEAB-233451858BA4}"/>
              </a:ext>
            </a:extLst>
          </p:cNvPr>
          <p:cNvSpPr>
            <a:spLocks noGrp="1"/>
          </p:cNvSpPr>
          <p:nvPr>
            <p:ph type="title"/>
          </p:nvPr>
        </p:nvSpPr>
        <p:spPr/>
        <p:txBody>
          <a:bodyPr>
            <a:normAutofit fontScale="90000"/>
          </a:bodyPr>
          <a:lstStyle/>
          <a:p>
            <a:r>
              <a:rPr lang="pt-BR" dirty="0"/>
              <a:t>Uma máquina virtual é definida como </a:t>
            </a:r>
            <a:br>
              <a:rPr lang="pt-BR" dirty="0"/>
            </a:br>
            <a:r>
              <a:rPr lang="pt-BR" dirty="0"/>
              <a:t>“Uma duplicata eficiente e isolada de uma máquina real”.</a:t>
            </a:r>
          </a:p>
        </p:txBody>
      </p:sp>
      <p:sp>
        <p:nvSpPr>
          <p:cNvPr id="3" name="Espaço Reservado para Conteúdo 2">
            <a:extLst>
              <a:ext uri="{FF2B5EF4-FFF2-40B4-BE49-F238E27FC236}">
                <a16:creationId xmlns:a16="http://schemas.microsoft.com/office/drawing/2014/main" id="{300F28F4-7120-51B0-717B-91E62BEEF203}"/>
              </a:ext>
            </a:extLst>
          </p:cNvPr>
          <p:cNvSpPr>
            <a:spLocks noGrp="1"/>
          </p:cNvSpPr>
          <p:nvPr>
            <p:ph idx="1"/>
          </p:nvPr>
        </p:nvSpPr>
        <p:spPr/>
        <p:txBody>
          <a:bodyPr>
            <a:normAutofit/>
          </a:bodyPr>
          <a:lstStyle/>
          <a:p>
            <a:r>
              <a:rPr lang="pt-BR" dirty="0"/>
              <a:t>Uma máquina virtual é um ambiente criado por um monitor de máquinas virtuais, também denominado “</a:t>
            </a:r>
            <a:r>
              <a:rPr lang="pt-BR" dirty="0">
                <a:solidFill>
                  <a:srgbClr val="FF0000"/>
                </a:solidFill>
              </a:rPr>
              <a:t>sistema operacional para sistemas operacionais</a:t>
            </a:r>
            <a:r>
              <a:rPr lang="pt-BR" dirty="0"/>
              <a:t>”.</a:t>
            </a:r>
          </a:p>
          <a:p>
            <a:pPr lvl="1"/>
            <a:r>
              <a:rPr lang="pt-BR" dirty="0"/>
              <a:t>Enquanto um emulador fornece uma camada de abstração completa entre o sistema em execução e o hardware, </a:t>
            </a:r>
          </a:p>
          <a:p>
            <a:pPr lvl="1"/>
            <a:r>
              <a:rPr lang="pt-BR" dirty="0"/>
              <a:t>Um monitor abstrai o hardware subjacente e controla uma ou mais máquinas virtuais. </a:t>
            </a:r>
          </a:p>
          <a:p>
            <a:pPr lvl="1"/>
            <a:r>
              <a:rPr lang="pt-BR" dirty="0"/>
              <a:t>Cada máquina virtual fornece facilidades para uma aplicação ou um “sistema convidado” que acredita estar executando sobre um ambiente normal com acesso físico ao hardware. </a:t>
            </a:r>
          </a:p>
        </p:txBody>
      </p:sp>
      <p:sp>
        <p:nvSpPr>
          <p:cNvPr id="6" name="Espaço Reservado para Número de Slide 5">
            <a:extLst>
              <a:ext uri="{FF2B5EF4-FFF2-40B4-BE49-F238E27FC236}">
                <a16:creationId xmlns:a16="http://schemas.microsoft.com/office/drawing/2014/main" id="{6FF5CDD1-B8E7-A77F-5195-A3FFF9855FA5}"/>
              </a:ext>
            </a:extLst>
          </p:cNvPr>
          <p:cNvSpPr>
            <a:spLocks noGrp="1"/>
          </p:cNvSpPr>
          <p:nvPr>
            <p:ph type="sldNum" sz="quarter" idx="12"/>
          </p:nvPr>
        </p:nvSpPr>
        <p:spPr/>
        <p:txBody>
          <a:bodyPr/>
          <a:lstStyle/>
          <a:p>
            <a:fld id="{889E4DDB-AB51-4EFC-ADEE-1042DB8CA710}" type="slidenum">
              <a:rPr lang="pt-BR" smtClean="0"/>
              <a:t>22</a:t>
            </a:fld>
            <a:endParaRPr lang="pt-BR"/>
          </a:p>
        </p:txBody>
      </p:sp>
    </p:spTree>
    <p:extLst>
      <p:ext uri="{BB962C8B-B14F-4D97-AF65-F5344CB8AC3E}">
        <p14:creationId xmlns:p14="http://schemas.microsoft.com/office/powerpoint/2010/main" val="16076579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E889BDF-EC38-B2F7-3845-5FCDA3D4A635}"/>
              </a:ext>
            </a:extLst>
          </p:cNvPr>
          <p:cNvSpPr>
            <a:spLocks noGrp="1"/>
          </p:cNvSpPr>
          <p:nvPr>
            <p:ph type="title"/>
          </p:nvPr>
        </p:nvSpPr>
        <p:spPr>
          <a:xfrm>
            <a:off x="1847851" y="214325"/>
            <a:ext cx="10258424" cy="1325563"/>
          </a:xfrm>
        </p:spPr>
        <p:txBody>
          <a:bodyPr/>
          <a:lstStyle/>
          <a:p>
            <a:r>
              <a:rPr lang="pt-BR" dirty="0"/>
              <a:t>Máquina virtual</a:t>
            </a:r>
            <a:endParaRPr lang="en-US" dirty="0"/>
          </a:p>
        </p:txBody>
      </p:sp>
      <p:pic>
        <p:nvPicPr>
          <p:cNvPr id="8" name="Espaço Reservado para Conteúdo 7" descr="Diagrama&#10;&#10;Descrição gerada automaticamente">
            <a:extLst>
              <a:ext uri="{FF2B5EF4-FFF2-40B4-BE49-F238E27FC236}">
                <a16:creationId xmlns:a16="http://schemas.microsoft.com/office/drawing/2014/main" id="{913AF94A-2DDC-EA42-AAF3-53C6D167DB89}"/>
              </a:ext>
            </a:extLst>
          </p:cNvPr>
          <p:cNvPicPr>
            <a:picLocks noGrp="1" noChangeAspect="1"/>
          </p:cNvPicPr>
          <p:nvPr>
            <p:ph sz="half" idx="1"/>
          </p:nvPr>
        </p:nvPicPr>
        <p:blipFill>
          <a:blip r:embed="rId2"/>
          <a:stretch>
            <a:fillRect/>
          </a:stretch>
        </p:blipFill>
        <p:spPr>
          <a:xfrm>
            <a:off x="2158597" y="1115590"/>
            <a:ext cx="8356183" cy="4198981"/>
          </a:xfrm>
          <a:noFill/>
        </p:spPr>
      </p:pic>
      <p:sp>
        <p:nvSpPr>
          <p:cNvPr id="10" name="CaixaDeTexto 9">
            <a:extLst>
              <a:ext uri="{FF2B5EF4-FFF2-40B4-BE49-F238E27FC236}">
                <a16:creationId xmlns:a16="http://schemas.microsoft.com/office/drawing/2014/main" id="{7C99A32F-4AC5-4331-F614-2F5136400AB2}"/>
              </a:ext>
            </a:extLst>
          </p:cNvPr>
          <p:cNvSpPr txBox="1"/>
          <p:nvPr/>
        </p:nvSpPr>
        <p:spPr>
          <a:xfrm>
            <a:off x="85725" y="5550408"/>
            <a:ext cx="12020549" cy="802765"/>
          </a:xfrm>
          <a:prstGeom prst="rect">
            <a:avLst/>
          </a:prstGeom>
        </p:spPr>
        <p:txBody>
          <a:bodyPr vert="horz" lIns="91440" tIns="45720" rIns="91440" bIns="45720" rtlCol="0">
            <a:normAutofit/>
          </a:bodyPr>
          <a:lstStyle/>
          <a:p>
            <a:pPr marL="228600" indent="-228600">
              <a:lnSpc>
                <a:spcPct val="90000"/>
              </a:lnSpc>
              <a:spcBef>
                <a:spcPts val="1000"/>
              </a:spcBef>
              <a:buFont typeface="Arial" panose="020B0604020202020204" pitchFamily="34" charset="0"/>
              <a:buChar char="•"/>
            </a:pPr>
            <a:r>
              <a:rPr lang="pt-BR" sz="2000" dirty="0">
                <a:solidFill>
                  <a:srgbClr val="034C8C"/>
                </a:solidFill>
                <a:latin typeface="Arial" panose="020B0604020202020204" pitchFamily="34" charset="0"/>
                <a:cs typeface="Arial" panose="020B0604020202020204" pitchFamily="34" charset="0"/>
              </a:rPr>
              <a:t>Tipo I, o monitor de máquinas virtuais é implementado entre o hardware e os sistemas convidados; </a:t>
            </a:r>
          </a:p>
          <a:p>
            <a:pPr marL="228600" indent="-228600">
              <a:lnSpc>
                <a:spcPct val="90000"/>
              </a:lnSpc>
              <a:spcBef>
                <a:spcPts val="1000"/>
              </a:spcBef>
              <a:buFont typeface="Arial" panose="020B0604020202020204" pitchFamily="34" charset="0"/>
              <a:buChar char="•"/>
            </a:pPr>
            <a:r>
              <a:rPr lang="pt-BR" sz="2000" dirty="0">
                <a:solidFill>
                  <a:srgbClr val="034C8C"/>
                </a:solidFill>
                <a:latin typeface="Arial" panose="020B0604020202020204" pitchFamily="34" charset="0"/>
                <a:cs typeface="Arial" panose="020B0604020202020204" pitchFamily="34" charset="0"/>
              </a:rPr>
              <a:t>Tipo II, o monitor é implementado como um processo de um sistema operacional real subjacente.</a:t>
            </a:r>
          </a:p>
        </p:txBody>
      </p:sp>
      <p:sp>
        <p:nvSpPr>
          <p:cNvPr id="6" name="Espaço Reservado para Número de Slide 5">
            <a:extLst>
              <a:ext uri="{FF2B5EF4-FFF2-40B4-BE49-F238E27FC236}">
                <a16:creationId xmlns:a16="http://schemas.microsoft.com/office/drawing/2014/main" id="{770B7DB5-D826-4C8C-1530-B8ED65D68EAF}"/>
              </a:ext>
            </a:extLst>
          </p:cNvPr>
          <p:cNvSpPr>
            <a:spLocks noGrp="1"/>
          </p:cNvSpPr>
          <p:nvPr>
            <p:ph type="sldNum" sz="quarter" idx="12"/>
          </p:nvPr>
        </p:nvSpPr>
        <p:spPr>
          <a:xfrm>
            <a:off x="11112000" y="6607818"/>
            <a:ext cx="720000" cy="216000"/>
          </a:xfrm>
        </p:spPr>
        <p:txBody>
          <a:bodyPr vert="horz" lIns="91440" tIns="45720" rIns="91440" bIns="45720" rtlCol="0" anchor="ctr">
            <a:normAutofit/>
          </a:bodyPr>
          <a:lstStyle/>
          <a:p>
            <a:pPr>
              <a:lnSpc>
                <a:spcPct val="90000"/>
              </a:lnSpc>
              <a:spcAft>
                <a:spcPts val="600"/>
              </a:spcAft>
            </a:pPr>
            <a:fld id="{889E4DDB-AB51-4EFC-ADEE-1042DB8CA710}" type="slidenum">
              <a:rPr lang="pt-BR" sz="900" smtClean="0"/>
              <a:pPr>
                <a:lnSpc>
                  <a:spcPct val="90000"/>
                </a:lnSpc>
                <a:spcAft>
                  <a:spcPts val="600"/>
                </a:spcAft>
              </a:pPr>
              <a:t>23</a:t>
            </a:fld>
            <a:endParaRPr lang="pt-BR" sz="900"/>
          </a:p>
        </p:txBody>
      </p:sp>
      <p:pic>
        <p:nvPicPr>
          <p:cNvPr id="21" name="Imagem 20">
            <a:extLst>
              <a:ext uri="{FF2B5EF4-FFF2-40B4-BE49-F238E27FC236}">
                <a16:creationId xmlns:a16="http://schemas.microsoft.com/office/drawing/2014/main" id="{B728093B-6369-8208-BBD0-0C1D496E1D7F}"/>
              </a:ext>
            </a:extLst>
          </p:cNvPr>
          <p:cNvPicPr>
            <a:picLocks noChangeAspect="1"/>
          </p:cNvPicPr>
          <p:nvPr/>
        </p:nvPicPr>
        <p:blipFill>
          <a:blip r:embed="rId3"/>
          <a:stretch>
            <a:fillRect/>
          </a:stretch>
        </p:blipFill>
        <p:spPr>
          <a:xfrm>
            <a:off x="85725" y="3864301"/>
            <a:ext cx="1409898" cy="1429080"/>
          </a:xfrm>
          <a:prstGeom prst="rect">
            <a:avLst/>
          </a:prstGeom>
        </p:spPr>
      </p:pic>
    </p:spTree>
    <p:extLst>
      <p:ext uri="{BB962C8B-B14F-4D97-AF65-F5344CB8AC3E}">
        <p14:creationId xmlns:p14="http://schemas.microsoft.com/office/powerpoint/2010/main" val="18012869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EE4B55-257F-8E8E-CEAB-233451858BA4}"/>
              </a:ext>
            </a:extLst>
          </p:cNvPr>
          <p:cNvSpPr>
            <a:spLocks noGrp="1"/>
          </p:cNvSpPr>
          <p:nvPr>
            <p:ph type="title"/>
          </p:nvPr>
        </p:nvSpPr>
        <p:spPr/>
        <p:txBody>
          <a:bodyPr>
            <a:normAutofit fontScale="90000"/>
          </a:bodyPr>
          <a:lstStyle/>
          <a:p>
            <a:r>
              <a:rPr lang="pt-BR" dirty="0"/>
              <a:t>Uma máquina virtual é definida como </a:t>
            </a:r>
            <a:br>
              <a:rPr lang="pt-BR" dirty="0"/>
            </a:br>
            <a:r>
              <a:rPr lang="pt-BR" dirty="0"/>
              <a:t>“Uma duplicata eficiente e isolada de uma máquina real”.</a:t>
            </a:r>
          </a:p>
        </p:txBody>
      </p:sp>
      <p:sp>
        <p:nvSpPr>
          <p:cNvPr id="3" name="Espaço Reservado para Conteúdo 2">
            <a:extLst>
              <a:ext uri="{FF2B5EF4-FFF2-40B4-BE49-F238E27FC236}">
                <a16:creationId xmlns:a16="http://schemas.microsoft.com/office/drawing/2014/main" id="{300F28F4-7120-51B0-717B-91E62BEEF203}"/>
              </a:ext>
            </a:extLst>
          </p:cNvPr>
          <p:cNvSpPr>
            <a:spLocks noGrp="1"/>
          </p:cNvSpPr>
          <p:nvPr>
            <p:ph idx="1"/>
          </p:nvPr>
        </p:nvSpPr>
        <p:spPr/>
        <p:txBody>
          <a:bodyPr>
            <a:normAutofit fontScale="85000" lnSpcReduction="20000"/>
          </a:bodyPr>
          <a:lstStyle/>
          <a:p>
            <a:r>
              <a:rPr lang="pt-BR" dirty="0"/>
              <a:t>A funcionalidade e o nível de abstração de uma máquina virtual se encontra entre uma máquina real e um emulador, na medida em que abstrai somente os recursos de hardware e de controle usados pelas aplicações. </a:t>
            </a:r>
          </a:p>
          <a:p>
            <a:r>
              <a:rPr lang="pt-BR" dirty="0"/>
              <a:t>Uma máquina virtual é um ambiente criado por um monitor de máquinas virtuais, também denominado “sistema operacional para sistemas operacionais”.</a:t>
            </a:r>
          </a:p>
          <a:p>
            <a:r>
              <a:rPr lang="pt-BR" dirty="0"/>
              <a:t>O monitor pode criar uma ou mais máquinas virtuais sobre uma única máquina real. </a:t>
            </a:r>
          </a:p>
          <a:p>
            <a:r>
              <a:rPr lang="pt-BR" dirty="0"/>
              <a:t>Enquanto um emulador fornece uma camada de abstração completa entre o sistema em execução e o hardware, um monitor abstrai o hardware subjacente e controla uma ou mais máquinas virtuais. Cada máquina virtual fornece facilidades para uma aplicação ou um “sistema convidado” que acredita estar executando sobre um ambiente normal com acesso físico ao hardware. </a:t>
            </a:r>
          </a:p>
          <a:p>
            <a:r>
              <a:rPr lang="pt-BR" dirty="0"/>
              <a:t>Existem basicamente duas abordagens para a construção de sistemas de máquinas virtuais: o tipo I, onde o monitor de máquinas virtuais é implementado entre o hardware e os sistemas convidados, e o tipo II, onde o monitor é implementado como um processo de um sistema operacional real subjacente, denominado sistema anfitrião ou sistema hospedeiro.</a:t>
            </a:r>
          </a:p>
          <a:p>
            <a:r>
              <a:rPr lang="pt-BR" dirty="0"/>
              <a:t> Ambas as abordagens estão ilustradas na figura abaixo, Como exemplos de sistemas de tipo I podem ser citados o VM </a:t>
            </a:r>
            <a:r>
              <a:rPr lang="pt-BR" dirty="0" err="1"/>
              <a:t>Ware</a:t>
            </a:r>
            <a:r>
              <a:rPr lang="pt-BR" dirty="0"/>
              <a:t> ESX Server e o </a:t>
            </a:r>
            <a:r>
              <a:rPr lang="pt-BR" dirty="0" err="1"/>
              <a:t>Xen</a:t>
            </a:r>
            <a:r>
              <a:rPr lang="pt-BR" dirty="0"/>
              <a:t>; para o tipo II podem ser citados o VM </a:t>
            </a:r>
            <a:r>
              <a:rPr lang="pt-BR" dirty="0" err="1"/>
              <a:t>Ware</a:t>
            </a:r>
            <a:r>
              <a:rPr lang="pt-BR" dirty="0"/>
              <a:t> Workstation, o MS Virtual PC e o </a:t>
            </a:r>
            <a:r>
              <a:rPr lang="pt-BR" dirty="0" err="1"/>
              <a:t>User-Mode</a:t>
            </a:r>
            <a:r>
              <a:rPr lang="pt-BR" dirty="0"/>
              <a:t> Linux.</a:t>
            </a:r>
          </a:p>
        </p:txBody>
      </p:sp>
      <p:sp>
        <p:nvSpPr>
          <p:cNvPr id="6" name="Espaço Reservado para Número de Slide 5">
            <a:extLst>
              <a:ext uri="{FF2B5EF4-FFF2-40B4-BE49-F238E27FC236}">
                <a16:creationId xmlns:a16="http://schemas.microsoft.com/office/drawing/2014/main" id="{6FF5CDD1-B8E7-A77F-5195-A3FFF9855FA5}"/>
              </a:ext>
            </a:extLst>
          </p:cNvPr>
          <p:cNvSpPr>
            <a:spLocks noGrp="1"/>
          </p:cNvSpPr>
          <p:nvPr>
            <p:ph type="sldNum" sz="quarter" idx="12"/>
          </p:nvPr>
        </p:nvSpPr>
        <p:spPr/>
        <p:txBody>
          <a:bodyPr/>
          <a:lstStyle/>
          <a:p>
            <a:fld id="{889E4DDB-AB51-4EFC-ADEE-1042DB8CA710}" type="slidenum">
              <a:rPr lang="pt-BR" smtClean="0"/>
              <a:t>24</a:t>
            </a:fld>
            <a:endParaRPr lang="pt-BR"/>
          </a:p>
        </p:txBody>
      </p:sp>
    </p:spTree>
    <p:extLst>
      <p:ext uri="{BB962C8B-B14F-4D97-AF65-F5344CB8AC3E}">
        <p14:creationId xmlns:p14="http://schemas.microsoft.com/office/powerpoint/2010/main" val="33403877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D6BEBD-A094-8A14-9560-91F5F840588C}"/>
              </a:ext>
            </a:extLst>
          </p:cNvPr>
          <p:cNvSpPr>
            <a:spLocks noGrp="1"/>
          </p:cNvSpPr>
          <p:nvPr>
            <p:ph type="title"/>
          </p:nvPr>
        </p:nvSpPr>
        <p:spPr/>
        <p:txBody>
          <a:bodyPr/>
          <a:lstStyle/>
          <a:p>
            <a:r>
              <a:rPr lang="pt-BR" dirty="0"/>
              <a:t>Máquinas virtuais</a:t>
            </a:r>
          </a:p>
        </p:txBody>
      </p:sp>
      <p:sp>
        <p:nvSpPr>
          <p:cNvPr id="3" name="Espaço Reservado para Conteúdo 2">
            <a:extLst>
              <a:ext uri="{FF2B5EF4-FFF2-40B4-BE49-F238E27FC236}">
                <a16:creationId xmlns:a16="http://schemas.microsoft.com/office/drawing/2014/main" id="{9B2DB70C-B7F5-BA1F-7580-C136867C6E8B}"/>
              </a:ext>
            </a:extLst>
          </p:cNvPr>
          <p:cNvSpPr>
            <a:spLocks noGrp="1"/>
          </p:cNvSpPr>
          <p:nvPr>
            <p:ph idx="1"/>
          </p:nvPr>
        </p:nvSpPr>
        <p:spPr/>
        <p:txBody>
          <a:bodyPr>
            <a:normAutofit fontScale="92500"/>
          </a:bodyPr>
          <a:lstStyle/>
          <a:p>
            <a:r>
              <a:rPr lang="pt-BR" dirty="0"/>
              <a:t>Em um computador real uma camada de software de baixo nível (por exemplo, a BIOS dos sistemas PC) fornece acesso aos vários recursos do hardware para o sistema operacional que os disponibiliza de forma abstrata às aplicações. </a:t>
            </a:r>
          </a:p>
          <a:p>
            <a:r>
              <a:rPr lang="pt-BR" dirty="0"/>
              <a:t>Quando o sistema operacional acessa os dispositivos de hardware ele faz uso dos drivers respectivos que interagem diretamente com a memória e os dispositivos da máquina.</a:t>
            </a:r>
          </a:p>
          <a:p>
            <a:r>
              <a:rPr lang="pt-BR" dirty="0"/>
              <a:t>Por outro lado um emulador implementa todas as instruções realizadas pela máquina real em um ambiente abstrato, possibilitando executar um aplicativo de uma plataforma em outra, por exemplo, um aplicativo do Windows executando no Linux.</a:t>
            </a:r>
          </a:p>
          <a:p>
            <a:r>
              <a:rPr lang="pt-BR" dirty="0"/>
              <a:t>Infelizmente, um emulador perde muito em eficiência ao traduzir as instruções de uma máquina real.</a:t>
            </a:r>
          </a:p>
          <a:p>
            <a:r>
              <a:rPr lang="pt-BR" dirty="0"/>
              <a:t>Além disso, emuladores são bastante complexos, pois, geralmente necessitam simular a quase totalidade das instruções do processador e demais características do hardware que os circundam.</a:t>
            </a:r>
          </a:p>
        </p:txBody>
      </p:sp>
      <p:sp>
        <p:nvSpPr>
          <p:cNvPr id="6" name="Espaço Reservado para Número de Slide 5">
            <a:extLst>
              <a:ext uri="{FF2B5EF4-FFF2-40B4-BE49-F238E27FC236}">
                <a16:creationId xmlns:a16="http://schemas.microsoft.com/office/drawing/2014/main" id="{55937C6E-DCC9-9638-D904-7D9B71793484}"/>
              </a:ext>
            </a:extLst>
          </p:cNvPr>
          <p:cNvSpPr>
            <a:spLocks noGrp="1"/>
          </p:cNvSpPr>
          <p:nvPr>
            <p:ph type="sldNum" sz="quarter" idx="12"/>
          </p:nvPr>
        </p:nvSpPr>
        <p:spPr/>
        <p:txBody>
          <a:bodyPr/>
          <a:lstStyle/>
          <a:p>
            <a:fld id="{889E4DDB-AB51-4EFC-ADEE-1042DB8CA710}" type="slidenum">
              <a:rPr lang="pt-BR" smtClean="0"/>
              <a:t>25</a:t>
            </a:fld>
            <a:endParaRPr lang="pt-BR"/>
          </a:p>
        </p:txBody>
      </p:sp>
    </p:spTree>
    <p:extLst>
      <p:ext uri="{BB962C8B-B14F-4D97-AF65-F5344CB8AC3E}">
        <p14:creationId xmlns:p14="http://schemas.microsoft.com/office/powerpoint/2010/main" val="40612366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EE0848-D0A6-2ADA-F1C1-CE1C0897A71E}"/>
              </a:ext>
            </a:extLst>
          </p:cNvPr>
          <p:cNvSpPr>
            <a:spLocks noGrp="1"/>
          </p:cNvSpPr>
          <p:nvPr>
            <p:ph type="title"/>
          </p:nvPr>
        </p:nvSpPr>
        <p:spPr>
          <a:xfrm>
            <a:off x="2095500" y="365125"/>
            <a:ext cx="9258300" cy="1325563"/>
          </a:xfrm>
        </p:spPr>
        <p:txBody>
          <a:bodyPr anchor="ctr">
            <a:normAutofit/>
          </a:bodyPr>
          <a:lstStyle/>
          <a:p>
            <a:r>
              <a:rPr lang="pt-BR" dirty="0"/>
              <a:t>Duvidas???</a:t>
            </a:r>
          </a:p>
        </p:txBody>
      </p:sp>
      <p:sp>
        <p:nvSpPr>
          <p:cNvPr id="6" name="Espaço Reservado para Número de Slide 5">
            <a:extLst>
              <a:ext uri="{FF2B5EF4-FFF2-40B4-BE49-F238E27FC236}">
                <a16:creationId xmlns:a16="http://schemas.microsoft.com/office/drawing/2014/main" id="{16C08F2F-3495-1162-453B-07B051D334A1}"/>
              </a:ext>
            </a:extLst>
          </p:cNvPr>
          <p:cNvSpPr>
            <a:spLocks noGrp="1"/>
          </p:cNvSpPr>
          <p:nvPr>
            <p:ph type="sldNum" sz="quarter" idx="12"/>
          </p:nvPr>
        </p:nvSpPr>
        <p:spPr/>
        <p:txBody>
          <a:bodyPr/>
          <a:lstStyle/>
          <a:p>
            <a:fld id="{36F3016F-4E81-4F4F-B206-78968167ACC9}" type="slidenum">
              <a:rPr lang="pt-BR" smtClean="0"/>
              <a:t>26</a:t>
            </a:fld>
            <a:endParaRPr lang="pt-BR"/>
          </a:p>
        </p:txBody>
      </p:sp>
      <p:pic>
        <p:nvPicPr>
          <p:cNvPr id="2050" name="Picture 2" descr="Duvidas Hapvida - HAPVIDA">
            <a:extLst>
              <a:ext uri="{FF2B5EF4-FFF2-40B4-BE49-F238E27FC236}">
                <a16:creationId xmlns:a16="http://schemas.microsoft.com/office/drawing/2014/main" id="{10038046-42EB-550C-1153-A1AC6F4E2B4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626687" y="2005012"/>
            <a:ext cx="3547476" cy="4351338"/>
          </a:xfrm>
          <a:prstGeom prst="rect">
            <a:avLst/>
          </a:prstGeom>
          <a:solidFill>
            <a:srgbClr val="FFFFFF"/>
          </a:solidFill>
        </p:spPr>
      </p:pic>
      <p:pic>
        <p:nvPicPr>
          <p:cNvPr id="2054" name="Picture 6" descr="Minhas dúvidas, suas dúvidas, nossas dúvidas | .: Focado em Você :.">
            <a:extLst>
              <a:ext uri="{FF2B5EF4-FFF2-40B4-BE49-F238E27FC236}">
                <a16:creationId xmlns:a16="http://schemas.microsoft.com/office/drawing/2014/main" id="{FE0EE334-B8C9-B155-41C2-7BB53FE1FD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8577" y="2311686"/>
            <a:ext cx="4528846" cy="3379216"/>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a:extLst>
              <a:ext uri="{FF2B5EF4-FFF2-40B4-BE49-F238E27FC236}">
                <a16:creationId xmlns:a16="http://schemas.microsoft.com/office/drawing/2014/main" id="{7A365FD6-9BBF-B728-5C1E-35B8DE39E618}"/>
              </a:ext>
            </a:extLst>
          </p:cNvPr>
          <p:cNvPicPr>
            <a:picLocks noChangeAspect="1"/>
          </p:cNvPicPr>
          <p:nvPr/>
        </p:nvPicPr>
        <p:blipFill>
          <a:blip r:embed="rId4"/>
          <a:stretch>
            <a:fillRect/>
          </a:stretch>
        </p:blipFill>
        <p:spPr>
          <a:xfrm>
            <a:off x="10250287" y="604374"/>
            <a:ext cx="1723426" cy="1576028"/>
          </a:xfrm>
          <a:prstGeom prst="rect">
            <a:avLst/>
          </a:prstGeom>
        </p:spPr>
      </p:pic>
    </p:spTree>
    <p:extLst>
      <p:ext uri="{BB962C8B-B14F-4D97-AF65-F5344CB8AC3E}">
        <p14:creationId xmlns:p14="http://schemas.microsoft.com/office/powerpoint/2010/main" val="90408956"/>
      </p:ext>
    </p:extLst>
  </p:cSld>
  <p:clrMapOvr>
    <a:masterClrMapping/>
  </p:clrMapOvr>
</p:sld>
</file>

<file path=ppt/theme/theme1.xml><?xml version="1.0" encoding="utf-8"?>
<a:theme xmlns:a="http://schemas.openxmlformats.org/drawingml/2006/main" name="Tema Aems 2024 v,5">
  <a:themeElements>
    <a:clrScheme name="Aems 2024-2">
      <a:dk1>
        <a:srgbClr val="000000"/>
      </a:dk1>
      <a:lt1>
        <a:srgbClr val="FFFFFF"/>
      </a:lt1>
      <a:dk2>
        <a:srgbClr val="000000"/>
      </a:dk2>
      <a:lt2>
        <a:srgbClr val="FFFFFF"/>
      </a:lt2>
      <a:accent1>
        <a:srgbClr val="033E8C"/>
      </a:accent1>
      <a:accent2>
        <a:srgbClr val="034C8C"/>
      </a:accent2>
      <a:accent3>
        <a:srgbClr val="0367A6"/>
      </a:accent3>
      <a:accent4>
        <a:srgbClr val="F2BF27"/>
      </a:accent4>
      <a:accent5>
        <a:srgbClr val="F2A516"/>
      </a:accent5>
      <a:accent6>
        <a:srgbClr val="F2F2F2"/>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ma Aems 2024 v,5" id="{55D8B325-F545-4CB3-9EF8-7F926CD9815B}" vid="{88790D67-93E4-4762-BB14-8F98445A9858}"/>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Tema Aems 2024 v,5</Template>
  <TotalTime>190</TotalTime>
  <Words>1692</Words>
  <Application>Microsoft Office PowerPoint</Application>
  <PresentationFormat>Widescreen</PresentationFormat>
  <Paragraphs>133</Paragraphs>
  <Slides>26</Slides>
  <Notes>1</Notes>
  <HiddenSlides>6</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26</vt:i4>
      </vt:variant>
    </vt:vector>
  </HeadingPairs>
  <TitlesOfParts>
    <vt:vector size="29" baseType="lpstr">
      <vt:lpstr>Aptos</vt:lpstr>
      <vt:lpstr>Arial</vt:lpstr>
      <vt:lpstr>Tema Aems 2024 v,5</vt:lpstr>
      <vt:lpstr>Disciplina: Linux.</vt:lpstr>
      <vt:lpstr>Monoprogramação vs Multiprogramação</vt:lpstr>
      <vt:lpstr>Monoprogramação vs Multiprogramação</vt:lpstr>
      <vt:lpstr>PIPELINE</vt:lpstr>
      <vt:lpstr>Curiosidade</vt:lpstr>
      <vt:lpstr>Sistema Monolítica x Em camada x Micro-núcleo</vt:lpstr>
      <vt:lpstr>Típica chamada de sistema</vt:lpstr>
      <vt:lpstr>Sistemas monolíticos</vt:lpstr>
      <vt:lpstr>Apresentação do PowerPoint</vt:lpstr>
      <vt:lpstr>Sistemas monolíticos</vt:lpstr>
      <vt:lpstr>Sistemas em camadas</vt:lpstr>
      <vt:lpstr>Apresentação do PowerPoint</vt:lpstr>
      <vt:lpstr>Sistemas em camadas</vt:lpstr>
      <vt:lpstr>Sistemas em camadas</vt:lpstr>
      <vt:lpstr>Sistemas em camadas</vt:lpstr>
      <vt:lpstr>Sistemas micro-núcleo ou μ-kernel</vt:lpstr>
      <vt:lpstr>Apresentação do PowerPoint</vt:lpstr>
      <vt:lpstr>Sistemas micro-núcleo ou μ-kernel</vt:lpstr>
      <vt:lpstr>Apresentação do PowerPoint</vt:lpstr>
      <vt:lpstr>Vantagens dos sistemas micro-núcleo</vt:lpstr>
      <vt:lpstr>Sistemas atuais que usam micro-núcleo</vt:lpstr>
      <vt:lpstr>Uma máquina virtual é definida como  “Uma duplicata eficiente e isolada de uma máquina real”.</vt:lpstr>
      <vt:lpstr>Máquina virtual</vt:lpstr>
      <vt:lpstr>Uma máquina virtual é definida como  “Uma duplicata eficiente e isolada de uma máquina real”.</vt:lpstr>
      <vt:lpstr>Máquinas virtuais</vt:lpstr>
      <vt:lpstr>Duvidas???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Richard Vieira do Espirito Santo</dc:creator>
  <cp:lastModifiedBy>Richard Vieira do Espirito Santo</cp:lastModifiedBy>
  <cp:revision>13</cp:revision>
  <dcterms:created xsi:type="dcterms:W3CDTF">2024-07-25T17:17:08Z</dcterms:created>
  <dcterms:modified xsi:type="dcterms:W3CDTF">2025-10-17T23:19:54Z</dcterms:modified>
</cp:coreProperties>
</file>